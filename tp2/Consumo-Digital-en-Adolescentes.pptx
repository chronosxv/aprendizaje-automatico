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Space Mono" panose="020B0604020202020204" charset="0"/>
      <p:regular r:id="rId11"/>
    </p:embeddedFont>
    <p:embeddedFont>
      <p:font typeface="Space Mono Bold" panose="020B0604020202020204" charset="0"/>
      <p:regular r:id="rId12"/>
    </p:embeddedFont>
    <p:embeddedFont>
      <p:font typeface="Calibri" panose="020F0502020204030204" pitchFamily="34" charset="0"/>
      <p:regular r:id="rId13"/>
      <p:bold r:id="rId14"/>
      <p:italic r:id="rId15"/>
      <p:boldItalic r:id="rId16"/>
    </p:embeddedFont>
    <p:embeddedFont>
      <p:font typeface="Host Grotesk SemiBold" panose="020B0604020202020204" charset="0"/>
      <p:regular r:id="rId17"/>
    </p:embeddedFont>
    <p:embeddedFont>
      <p:font typeface="Host Grotesk Bold" panose="020B0604020202020204" charset="0"/>
      <p:regular r:id="rId18"/>
    </p:embeddedFont>
    <p:embeddedFont>
      <p:font typeface="Red Hat Text Bold" panose="020B0604020202020204" charset="0"/>
      <p:regular r:id="rId19"/>
    </p:embeddedFont>
    <p:embeddedFont>
      <p:font typeface="Bellefair" panose="020B0604020202020204" charset="-79"/>
      <p:regular r:id="rId20"/>
    </p:embeddedFont>
    <p:embeddedFont>
      <p:font typeface="Red Hat Text"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370" y="14"/>
      </p:cViewPr>
      <p:guideLst/>
    </p:cSldViewPr>
  </p:slideViewPr>
  <p:notesTextViewPr>
    <p:cViewPr>
      <p:scale>
        <a:sx n="1" d="1"/>
        <a:sy n="1" d="1"/>
      </p:scale>
      <p:origin x="0" y="0"/>
    </p:cViewPr>
  </p:notesTextViewPr>
  <p:notesViewPr>
    <p:cSldViewPr snapToGrid="0" snapToObjects="1">
      <p:cViewPr varScale="1">
        <p:scale>
          <a:sx n="50" d="100"/>
          <a:sy n="50" d="100"/>
        </p:scale>
        <p:origin x="3480"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handoutMaster" Target="handoutMasters/handout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72F8600-F825-4759-BBE9-6AF89CF357B1}" type="datetimeFigureOut">
              <a:rPr lang="en-US" smtClean="0"/>
              <a:t>10/7/2026</a:t>
            </a:fld>
            <a:endParaRPr lang="en-US"/>
          </a:p>
        </p:txBody>
      </p:sp>
      <p:sp>
        <p:nvSpPr>
          <p:cNvPr id="4" name="Marcador de pie de página 3"/>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Marcador de número de diapositiva 4"/>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18F8E5F4-907B-459E-AC00-E4ECE92B4CA5}" type="slidenum">
              <a:rPr lang="en-US" smtClean="0"/>
              <a:t>‹Nº›</a:t>
            </a:fld>
            <a:endParaRPr lang="en-US"/>
          </a:p>
        </p:txBody>
      </p:sp>
    </p:spTree>
    <p:extLst>
      <p:ext uri="{BB962C8B-B14F-4D97-AF65-F5344CB8AC3E}">
        <p14:creationId xmlns:p14="http://schemas.microsoft.com/office/powerpoint/2010/main" val="519941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652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a todos. Hoy presentamos el Análisis Exploratorio y la preparación de datos de nuestro proyecto sobre consumo digital en adolescentes. El foco central no es solo contar cuántas horas pasan conectados, sino descubrir qué estructuras de comportamiento subyacen a ese tiempo antes de aplicar modelos no supervisados.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4.115 registros y 125 columnas. Confirmamos que no existen duplicados puros. Entre los encuestados que reportaron edad, la media ronda los 15,6 años. Es una base rica pero heterogénea, que combina variables de pantalla con factores biomédicos y académicos.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analizar los promedios brutos, vemos que redes sociales lidera con 4,12 horas diarias, seguida por streaming con 3 horas y juegos móviles con 2,3. El tiempo total promedio original alcanza las 11,77 horas. Es crucial señalar que estos valores son previos al tratamiento de valores extremos, pero ya demuestran que el consumo no es homogéneo.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aplicar Machine Learning, revisamos la calidad de los datos. El promedio académico tenía 69,45 % de valores faltantes; las variables porcentuales de consumo, 27,85 %; y WAZ, 99,34 %. También encontramos duraciones de sueño originales con valores negativos, incompatibles con una duración real. La limpieza respondió al objetivo de investigación, no a una regla automática.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Comprobamos que en el 100% de los 4.115 registros el tiempo total es idéntico a la suma de sus cinco componentes. Por ende, incluir ambas cosas generaría redundancia estricta. Decidimos conservar las cinco actividades por separado y usar versiones trimmed con IQR: así diferenciamos al usuario gamer del streamer.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filtrado redujo el espacio de 125 a 32 variables seleccionadas y de 4.115 a 4.062 observaciones. Excluimos 53 casos de mayores de 18 años, pero preservamos 562 casos sin edad informada para no perder potencia estadística. Queda claro que persisten valores faltantes pendientes de imputación.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parte de un problema no supervisado: no contamos con una etiqueta que diga qué perfil tiene cada adolescente. Por eso comenzamos con K-Means como baseline, por su sencillez, costo computacional e interpretabilidad. Sus supuestos y limitaciones deberán contrastarse con los datos; por eso también investigamos clustering jerárquico, DBSCAN y Gaussian Mixture Models. Antes de segmentar, estandarizaremos las variables y evaluaremos distintos valores de 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DCEAE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1587956"/>
            <a:ext cx="6603835"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APRENDIZAJE NO SUPERVISADO · EDA</a:t>
            </a:r>
            <a:endParaRPr lang="en-US" sz="1050" dirty="0"/>
          </a:p>
        </p:txBody>
      </p:sp>
      <p:sp>
        <p:nvSpPr>
          <p:cNvPr id="3" name="Text 1"/>
          <p:cNvSpPr/>
          <p:nvPr/>
        </p:nvSpPr>
        <p:spPr>
          <a:xfrm>
            <a:off x="711182" y="1895237"/>
            <a:ext cx="6146646" cy="1173361"/>
          </a:xfrm>
          <a:prstGeom prst="rect">
            <a:avLst/>
          </a:prstGeom>
          <a:noFill/>
          <a:ln/>
        </p:spPr>
        <p:txBody>
          <a:bodyPr wrap="square" lIns="0" tIns="0" rIns="0" bIns="0" rtlCol="0" anchor="t">
            <a:normAutofit/>
          </a:bodyPr>
          <a:lstStyle/>
          <a:p>
            <a:pPr marL="0" indent="0" algn="l">
              <a:lnSpc>
                <a:spcPct val="87000"/>
              </a:lnSpc>
              <a:buNone/>
            </a:pPr>
            <a:r>
              <a:rPr lang="en-US" sz="4400" b="1" dirty="0">
                <a:solidFill>
                  <a:srgbClr val="0B1E26"/>
                </a:solidFill>
                <a:latin typeface="Host Grotesk Bold" pitchFamily="34" charset="0"/>
                <a:ea typeface="Host Grotesk Bold" pitchFamily="34" charset="-122"/>
                <a:cs typeface="Host Grotesk Bold" pitchFamily="34" charset="-120"/>
              </a:rPr>
              <a:t>CONSUMO DIGITAL EN ADOLESCENTES</a:t>
            </a:r>
            <a:endParaRPr lang="en-US" sz="4400" dirty="0"/>
          </a:p>
        </p:txBody>
      </p:sp>
      <p:sp>
        <p:nvSpPr>
          <p:cNvPr id="4" name="Text 2"/>
          <p:cNvSpPr/>
          <p:nvPr/>
        </p:nvSpPr>
        <p:spPr>
          <a:xfrm>
            <a:off x="711182" y="3218459"/>
            <a:ext cx="6146646" cy="965200"/>
          </a:xfrm>
          <a:prstGeom prst="rect">
            <a:avLst/>
          </a:prstGeom>
          <a:noFill/>
          <a:ln/>
        </p:spPr>
        <p:txBody>
          <a:bodyPr wrap="none" lIns="0" tIns="0" rIns="0" bIns="0" rtlCol="0" anchor="t"/>
          <a:lstStyle/>
          <a:p>
            <a:pPr marL="0" indent="0" algn="l">
              <a:lnSpc>
                <a:spcPct val="83000"/>
              </a:lnSpc>
              <a:buNone/>
            </a:pPr>
            <a:r>
              <a:rPr lang="en-US" sz="7600" dirty="0">
                <a:solidFill>
                  <a:srgbClr val="0D7D81"/>
                </a:solidFill>
                <a:latin typeface="Bellefair" pitchFamily="34" charset="0"/>
                <a:ea typeface="Bellefair" pitchFamily="34" charset="-122"/>
                <a:cs typeface="Bellefair" pitchFamily="34" charset="-120"/>
              </a:rPr>
              <a:t>Patrones.</a:t>
            </a:r>
            <a:endParaRPr lang="en-US" sz="7600" dirty="0"/>
          </a:p>
        </p:txBody>
      </p:sp>
      <p:sp>
        <p:nvSpPr>
          <p:cNvPr id="5" name="Text 3"/>
          <p:cNvSpPr/>
          <p:nvPr/>
        </p:nvSpPr>
        <p:spPr>
          <a:xfrm>
            <a:off x="711182" y="4317325"/>
            <a:ext cx="6146646" cy="568920"/>
          </a:xfrm>
          <a:prstGeom prst="rect">
            <a:avLst/>
          </a:prstGeom>
          <a:noFill/>
          <a:ln/>
        </p:spPr>
        <p:txBody>
          <a:bodyPr wrap="square" lIns="0" tIns="0" rIns="0" bIns="0" rtlCol="0" anchor="t">
            <a:normAutofit lnSpcReduction="10000"/>
          </a:bodyPr>
          <a:lstStyle/>
          <a:p>
            <a:pPr marL="0" indent="0" algn="l">
              <a:lnSpc>
                <a:spcPct val="117000"/>
              </a:lnSpc>
              <a:buNone/>
            </a:pPr>
            <a:r>
              <a:rPr lang="en-US" sz="1600" dirty="0">
                <a:solidFill>
                  <a:srgbClr val="0B1E26"/>
                </a:solidFill>
                <a:latin typeface="Red Hat Text" pitchFamily="34" charset="0"/>
                <a:ea typeface="Red Hat Text" pitchFamily="34" charset="-122"/>
                <a:cs typeface="Red Hat Text" pitchFamily="34" charset="-120"/>
              </a:rPr>
              <a:t>Descubrir perfiles de comportamiento más allá de la suma total de horas frente a la pantalla.</a:t>
            </a:r>
            <a:endParaRPr lang="en-US" sz="1600" dirty="0"/>
          </a:p>
        </p:txBody>
      </p:sp>
      <p:sp>
        <p:nvSpPr>
          <p:cNvPr id="6" name="Text 4"/>
          <p:cNvSpPr/>
          <p:nvPr/>
        </p:nvSpPr>
        <p:spPr>
          <a:xfrm>
            <a:off x="711182" y="5090081"/>
            <a:ext cx="6603835" cy="186630"/>
          </a:xfrm>
          <a:prstGeom prst="rect">
            <a:avLst/>
          </a:prstGeom>
          <a:noFill/>
          <a:ln/>
        </p:spPr>
        <p:txBody>
          <a:bodyPr wrap="none" lIns="0" tIns="0" rIns="0" bIns="0" rtlCol="0" anchor="t"/>
          <a:lstStyle/>
          <a:p>
            <a:pPr marL="0" indent="0" algn="l">
              <a:lnSpc>
                <a:spcPct val="117000"/>
              </a:lnSpc>
              <a:buNone/>
            </a:pPr>
            <a:r>
              <a:rPr lang="en-US" sz="1050" dirty="0">
                <a:solidFill>
                  <a:srgbClr val="0B1E26"/>
                </a:solidFill>
                <a:latin typeface="Red Hat Text" pitchFamily="34" charset="0"/>
                <a:ea typeface="Red Hat Text" pitchFamily="34" charset="-122"/>
                <a:cs typeface="Red Hat Text" pitchFamily="34" charset="-120"/>
              </a:rPr>
              <a:t>Equipo: Gisela Martínez · Noelia Cualina · José Leonardo Carabajal · Javier Carabajal</a:t>
            </a:r>
            <a:endParaRPr lang="en-US" sz="1050" dirty="0"/>
          </a:p>
        </p:txBody>
      </p:sp>
      <p:pic>
        <p:nvPicPr>
          <p:cNvPr id="7"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282164"/>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ESTRUCTURA DEL DATASET</a:t>
            </a:r>
            <a:endParaRPr lang="en-US" sz="1050" dirty="0"/>
          </a:p>
        </p:txBody>
      </p:sp>
      <p:sp>
        <p:nvSpPr>
          <p:cNvPr id="3" name="Text 1"/>
          <p:cNvSpPr/>
          <p:nvPr/>
        </p:nvSpPr>
        <p:spPr>
          <a:xfrm>
            <a:off x="609585" y="1572300"/>
            <a:ext cx="10972526" cy="426641"/>
          </a:xfrm>
          <a:prstGeom prst="rect">
            <a:avLst/>
          </a:prstGeom>
          <a:noFill/>
          <a:ln/>
        </p:spPr>
        <p:txBody>
          <a:bodyPr wrap="none" lIns="0" tIns="0" rIns="0" bIns="0" rtlCol="0" anchor="t"/>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¿Con qué información trabajamos?</a:t>
            </a:r>
            <a:endParaRPr lang="en-US" sz="3200" dirty="0"/>
          </a:p>
        </p:txBody>
      </p:sp>
      <p:sp>
        <p:nvSpPr>
          <p:cNvPr id="4" name="Text 2"/>
          <p:cNvSpPr/>
          <p:nvPr/>
        </p:nvSpPr>
        <p:spPr>
          <a:xfrm>
            <a:off x="609585" y="2140863"/>
            <a:ext cx="11582110" cy="284460"/>
          </a:xfrm>
          <a:prstGeom prst="rect">
            <a:avLst/>
          </a:prstGeom>
          <a:noFill/>
          <a:ln/>
        </p:spPr>
        <p:txBody>
          <a:bodyPr wrap="none" lIns="0" tIns="0" rIns="0" bIns="0" rtlCol="0" anchor="t"/>
          <a:lstStyle/>
          <a:p>
            <a:pPr marL="0" indent="0" algn="l">
              <a:lnSpc>
                <a:spcPct val="117000"/>
              </a:lnSpc>
              <a:buNone/>
            </a:pPr>
            <a:r>
              <a:rPr lang="en-US" sz="1600" dirty="0">
                <a:solidFill>
                  <a:srgbClr val="0B1E26"/>
                </a:solidFill>
                <a:latin typeface="Red Hat Text" pitchFamily="34" charset="0"/>
                <a:ea typeface="Red Hat Text" pitchFamily="34" charset="-122"/>
                <a:cs typeface="Red Hat Text" pitchFamily="34" charset="-120"/>
              </a:rPr>
              <a:t>Un corpus multidimensional que vincula tecnología, hábitos biológicos y trayectoria escolar.</a:t>
            </a:r>
            <a:endParaRPr lang="en-US" sz="1600" dirty="0"/>
          </a:p>
        </p:txBody>
      </p:sp>
      <p:sp>
        <p:nvSpPr>
          <p:cNvPr id="5" name="Shape 3"/>
          <p:cNvSpPr/>
          <p:nvPr/>
        </p:nvSpPr>
        <p:spPr>
          <a:xfrm>
            <a:off x="609585" y="2729805"/>
            <a:ext cx="2514537" cy="2008386"/>
          </a:xfrm>
          <a:prstGeom prst="roundRect">
            <a:avLst>
              <a:gd name="adj" fmla="val 3718"/>
            </a:avLst>
          </a:prstGeom>
          <a:solidFill>
            <a:srgbClr val="CFDDE2"/>
          </a:solidFill>
          <a:ln/>
        </p:spPr>
      </p:sp>
      <p:sp>
        <p:nvSpPr>
          <p:cNvPr id="6" name="Text 4"/>
          <p:cNvSpPr/>
          <p:nvPr/>
        </p:nvSpPr>
        <p:spPr>
          <a:xfrm>
            <a:off x="812780" y="3038098"/>
            <a:ext cx="2108147" cy="640060"/>
          </a:xfrm>
          <a:prstGeom prst="rect">
            <a:avLst/>
          </a:prstGeom>
          <a:noFill/>
          <a:ln/>
        </p:spPr>
        <p:txBody>
          <a:bodyPr wrap="none" lIns="0" tIns="0" rIns="0" bIns="0" rtlCol="0" anchor="t"/>
          <a:lstStyle/>
          <a:p>
            <a:pPr marL="0" indent="0" algn="l">
              <a:lnSpc>
                <a:spcPct val="88000"/>
              </a:lnSpc>
              <a:buNone/>
            </a:pPr>
            <a:r>
              <a:rPr lang="en-US" sz="4800" b="1" dirty="0">
                <a:solidFill>
                  <a:srgbClr val="0D7D81"/>
                </a:solidFill>
                <a:latin typeface="Host Grotesk Bold" pitchFamily="34" charset="0"/>
                <a:ea typeface="Host Grotesk Bold" pitchFamily="34" charset="-122"/>
                <a:cs typeface="Host Grotesk Bold" pitchFamily="34" charset="-120"/>
              </a:rPr>
              <a:t>4.115</a:t>
            </a:r>
            <a:endParaRPr lang="en-US" sz="4800" dirty="0"/>
          </a:p>
        </p:txBody>
      </p:sp>
      <p:sp>
        <p:nvSpPr>
          <p:cNvPr id="7" name="Text 5"/>
          <p:cNvSpPr/>
          <p:nvPr/>
        </p:nvSpPr>
        <p:spPr>
          <a:xfrm>
            <a:off x="812780" y="3807381"/>
            <a:ext cx="2311342"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REGISTROS</a:t>
            </a:r>
            <a:endParaRPr lang="en-US" sz="1050" dirty="0"/>
          </a:p>
        </p:txBody>
      </p:sp>
      <p:sp>
        <p:nvSpPr>
          <p:cNvPr id="8" name="Text 6"/>
          <p:cNvSpPr/>
          <p:nvPr/>
        </p:nvSpPr>
        <p:spPr>
          <a:xfrm>
            <a:off x="812780" y="4096564"/>
            <a:ext cx="2108147"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Casos relevados en la muestra original sin duplicados.</a:t>
            </a:r>
            <a:endParaRPr lang="en-US" sz="1100" dirty="0"/>
          </a:p>
        </p:txBody>
      </p:sp>
      <p:sp>
        <p:nvSpPr>
          <p:cNvPr id="9" name="Shape 7"/>
          <p:cNvSpPr/>
          <p:nvPr/>
        </p:nvSpPr>
        <p:spPr>
          <a:xfrm>
            <a:off x="3428914" y="2729805"/>
            <a:ext cx="2514537" cy="2008386"/>
          </a:xfrm>
          <a:prstGeom prst="roundRect">
            <a:avLst>
              <a:gd name="adj" fmla="val 3718"/>
            </a:avLst>
          </a:prstGeom>
          <a:solidFill>
            <a:srgbClr val="CFDDE2"/>
          </a:solidFill>
          <a:ln/>
        </p:spPr>
      </p:sp>
      <p:sp>
        <p:nvSpPr>
          <p:cNvPr id="10" name="Text 8"/>
          <p:cNvSpPr/>
          <p:nvPr/>
        </p:nvSpPr>
        <p:spPr>
          <a:xfrm>
            <a:off x="3632109" y="3038098"/>
            <a:ext cx="2108147" cy="640060"/>
          </a:xfrm>
          <a:prstGeom prst="rect">
            <a:avLst/>
          </a:prstGeom>
          <a:noFill/>
          <a:ln/>
        </p:spPr>
        <p:txBody>
          <a:bodyPr wrap="none" lIns="0" tIns="0" rIns="0" bIns="0" rtlCol="0" anchor="t"/>
          <a:lstStyle/>
          <a:p>
            <a:pPr marL="0" indent="0" algn="l">
              <a:lnSpc>
                <a:spcPct val="88000"/>
              </a:lnSpc>
              <a:buNone/>
            </a:pPr>
            <a:r>
              <a:rPr lang="en-US" sz="4800" b="1" dirty="0">
                <a:solidFill>
                  <a:srgbClr val="0D7D81"/>
                </a:solidFill>
                <a:latin typeface="Host Grotesk Bold" pitchFamily="34" charset="0"/>
                <a:ea typeface="Host Grotesk Bold" pitchFamily="34" charset="-122"/>
                <a:cs typeface="Host Grotesk Bold" pitchFamily="34" charset="-120"/>
              </a:rPr>
              <a:t>125</a:t>
            </a:r>
            <a:endParaRPr lang="en-US" sz="4800" dirty="0"/>
          </a:p>
        </p:txBody>
      </p:sp>
      <p:sp>
        <p:nvSpPr>
          <p:cNvPr id="11" name="Text 9"/>
          <p:cNvSpPr/>
          <p:nvPr/>
        </p:nvSpPr>
        <p:spPr>
          <a:xfrm>
            <a:off x="3632109" y="3807381"/>
            <a:ext cx="2311342"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VARIABLES</a:t>
            </a:r>
            <a:endParaRPr lang="en-US" sz="1050" dirty="0"/>
          </a:p>
        </p:txBody>
      </p:sp>
      <p:sp>
        <p:nvSpPr>
          <p:cNvPr id="12" name="Text 10"/>
          <p:cNvSpPr/>
          <p:nvPr/>
        </p:nvSpPr>
        <p:spPr>
          <a:xfrm>
            <a:off x="3632109" y="4096564"/>
            <a:ext cx="2108147"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Métricas de uso, demografía, sueño y desempeño escolar.</a:t>
            </a:r>
            <a:endParaRPr lang="en-US" sz="1100" dirty="0"/>
          </a:p>
        </p:txBody>
      </p:sp>
      <p:sp>
        <p:nvSpPr>
          <p:cNvPr id="13" name="Shape 11"/>
          <p:cNvSpPr/>
          <p:nvPr/>
        </p:nvSpPr>
        <p:spPr>
          <a:xfrm>
            <a:off x="6248244" y="2729805"/>
            <a:ext cx="2514537" cy="2008386"/>
          </a:xfrm>
          <a:prstGeom prst="roundRect">
            <a:avLst>
              <a:gd name="adj" fmla="val 3718"/>
            </a:avLst>
          </a:prstGeom>
          <a:solidFill>
            <a:srgbClr val="CFDDE2"/>
          </a:solidFill>
          <a:ln/>
        </p:spPr>
      </p:sp>
      <p:sp>
        <p:nvSpPr>
          <p:cNvPr id="14" name="Text 12"/>
          <p:cNvSpPr/>
          <p:nvPr/>
        </p:nvSpPr>
        <p:spPr>
          <a:xfrm>
            <a:off x="6451439" y="3038098"/>
            <a:ext cx="2108147" cy="640060"/>
          </a:xfrm>
          <a:prstGeom prst="rect">
            <a:avLst/>
          </a:prstGeom>
          <a:noFill/>
          <a:ln/>
        </p:spPr>
        <p:txBody>
          <a:bodyPr wrap="none" lIns="0" tIns="0" rIns="0" bIns="0" rtlCol="0" anchor="t"/>
          <a:lstStyle/>
          <a:p>
            <a:pPr marL="0" indent="0" algn="l">
              <a:lnSpc>
                <a:spcPct val="88000"/>
              </a:lnSpc>
              <a:buNone/>
            </a:pPr>
            <a:r>
              <a:rPr lang="en-US" sz="4800" b="1" dirty="0">
                <a:solidFill>
                  <a:srgbClr val="0D7D81"/>
                </a:solidFill>
                <a:latin typeface="Host Grotesk Bold" pitchFamily="34" charset="0"/>
                <a:ea typeface="Host Grotesk Bold" pitchFamily="34" charset="-122"/>
                <a:cs typeface="Host Grotesk Bold" pitchFamily="34" charset="-120"/>
              </a:rPr>
              <a:t>15,6</a:t>
            </a:r>
            <a:endParaRPr lang="en-US" sz="4800" dirty="0"/>
          </a:p>
        </p:txBody>
      </p:sp>
      <p:sp>
        <p:nvSpPr>
          <p:cNvPr id="15" name="Text 13"/>
          <p:cNvSpPr/>
          <p:nvPr/>
        </p:nvSpPr>
        <p:spPr>
          <a:xfrm>
            <a:off x="6451439" y="3807381"/>
            <a:ext cx="2311342"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AÑOS PROMEDIO</a:t>
            </a:r>
            <a:endParaRPr lang="en-US" sz="1050" dirty="0"/>
          </a:p>
        </p:txBody>
      </p:sp>
      <p:sp>
        <p:nvSpPr>
          <p:cNvPr id="16" name="Text 14"/>
          <p:cNvSpPr/>
          <p:nvPr/>
        </p:nvSpPr>
        <p:spPr>
          <a:xfrm>
            <a:off x="6451439" y="4096564"/>
            <a:ext cx="2108147"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Media calculada sobre quienes informaron su edad.</a:t>
            </a:r>
            <a:endParaRPr lang="en-US" sz="1100" dirty="0"/>
          </a:p>
        </p:txBody>
      </p:sp>
      <p:sp>
        <p:nvSpPr>
          <p:cNvPr id="17" name="Shape 15"/>
          <p:cNvSpPr/>
          <p:nvPr/>
        </p:nvSpPr>
        <p:spPr>
          <a:xfrm>
            <a:off x="9067573" y="2729805"/>
            <a:ext cx="2514537" cy="2008386"/>
          </a:xfrm>
          <a:prstGeom prst="roundRect">
            <a:avLst>
              <a:gd name="adj" fmla="val 3718"/>
            </a:avLst>
          </a:prstGeom>
          <a:solidFill>
            <a:srgbClr val="CFDDE2"/>
          </a:solidFill>
          <a:ln/>
        </p:spPr>
      </p:sp>
      <p:sp>
        <p:nvSpPr>
          <p:cNvPr id="18" name="Text 16"/>
          <p:cNvSpPr/>
          <p:nvPr/>
        </p:nvSpPr>
        <p:spPr>
          <a:xfrm>
            <a:off x="9270768" y="3038098"/>
            <a:ext cx="2108147" cy="640060"/>
          </a:xfrm>
          <a:prstGeom prst="rect">
            <a:avLst/>
          </a:prstGeom>
          <a:noFill/>
          <a:ln/>
        </p:spPr>
        <p:txBody>
          <a:bodyPr wrap="none" lIns="0" tIns="0" rIns="0" bIns="0" rtlCol="0" anchor="t"/>
          <a:lstStyle/>
          <a:p>
            <a:pPr marL="0" indent="0" algn="l">
              <a:lnSpc>
                <a:spcPct val="88000"/>
              </a:lnSpc>
              <a:buNone/>
            </a:pPr>
            <a:r>
              <a:rPr lang="en-US" sz="4800" b="1" dirty="0">
                <a:solidFill>
                  <a:srgbClr val="0D7D81"/>
                </a:solidFill>
                <a:latin typeface="Host Grotesk Bold" pitchFamily="34" charset="0"/>
                <a:ea typeface="Host Grotesk Bold" pitchFamily="34" charset="-122"/>
                <a:cs typeface="Host Grotesk Bold" pitchFamily="34" charset="-120"/>
              </a:rPr>
              <a:t>0</a:t>
            </a:r>
            <a:endParaRPr lang="en-US" sz="4800" dirty="0"/>
          </a:p>
        </p:txBody>
      </p:sp>
      <p:sp>
        <p:nvSpPr>
          <p:cNvPr id="19" name="Text 17"/>
          <p:cNvSpPr/>
          <p:nvPr/>
        </p:nvSpPr>
        <p:spPr>
          <a:xfrm>
            <a:off x="9270768" y="3807381"/>
            <a:ext cx="2311342"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DUPLICADOS</a:t>
            </a:r>
            <a:endParaRPr lang="en-US" sz="1050" dirty="0"/>
          </a:p>
        </p:txBody>
      </p:sp>
      <p:sp>
        <p:nvSpPr>
          <p:cNvPr id="20" name="Text 18"/>
          <p:cNvSpPr/>
          <p:nvPr/>
        </p:nvSpPr>
        <p:spPr>
          <a:xfrm>
            <a:off x="9270768" y="4096564"/>
            <a:ext cx="2108147"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Filas idénticas en la base: integridad relacional intacta.</a:t>
            </a:r>
            <a:endParaRPr lang="en-US" sz="1100" dirty="0"/>
          </a:p>
        </p:txBody>
      </p:sp>
      <p:sp>
        <p:nvSpPr>
          <p:cNvPr id="21" name="Shape 19"/>
          <p:cNvSpPr/>
          <p:nvPr/>
        </p:nvSpPr>
        <p:spPr>
          <a:xfrm>
            <a:off x="609585" y="4941391"/>
            <a:ext cx="10972526" cy="640060"/>
          </a:xfrm>
          <a:prstGeom prst="roundRect">
            <a:avLst>
              <a:gd name="adj" fmla="val 11667"/>
            </a:avLst>
          </a:prstGeom>
          <a:solidFill>
            <a:srgbClr val="D1F9FA"/>
          </a:solidFill>
          <a:ln/>
        </p:spPr>
      </p:sp>
      <p:sp>
        <p:nvSpPr>
          <p:cNvPr id="22" name="Text 20"/>
          <p:cNvSpPr/>
          <p:nvPr/>
        </p:nvSpPr>
        <p:spPr>
          <a:xfrm>
            <a:off x="787380" y="5167134"/>
            <a:ext cx="11226519" cy="195560"/>
          </a:xfrm>
          <a:prstGeom prst="rect">
            <a:avLst/>
          </a:prstGeom>
          <a:noFill/>
          <a:ln/>
        </p:spPr>
        <p:txBody>
          <a:bodyPr wrap="none" lIns="0" tIns="0" rIns="0" bIns="0" rtlCol="0" anchor="t"/>
          <a:lstStyle/>
          <a:p>
            <a:pPr marL="0" indent="0" algn="l">
              <a:lnSpc>
                <a:spcPct val="117000"/>
              </a:lnSpc>
              <a:buNone/>
            </a:pPr>
            <a:r>
              <a:rPr lang="en-US" sz="1100" b="1" dirty="0">
                <a:solidFill>
                  <a:srgbClr val="000000"/>
                </a:solidFill>
                <a:latin typeface="Red Hat Text Bold" pitchFamily="34" charset="0"/>
                <a:ea typeface="Red Hat Text Bold" pitchFamily="34" charset="-122"/>
                <a:cs typeface="Red Hat Text Bold" pitchFamily="34" charset="-120"/>
              </a:rPr>
              <a:t>Integración temática:</a:t>
            </a:r>
            <a:r>
              <a:rPr lang="en-US" sz="1100" dirty="0">
                <a:solidFill>
                  <a:srgbClr val="000000"/>
                </a:solidFill>
                <a:latin typeface="Red Hat Text" pitchFamily="34" charset="0"/>
                <a:ea typeface="Red Hat Text" pitchFamily="34" charset="-122"/>
                <a:cs typeface="Red Hat Text" pitchFamily="34" charset="-120"/>
              </a:rPr>
              <a:t> el relevamiento cruza patrones de dispositivos, demografía, duración de sueño, escala de somnolencia diurna (PDSS) y rendimiento escolar.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5315"/>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DISTRIBUCIÓN DEL USO</a:t>
            </a:r>
            <a:endParaRPr lang="en-US" sz="1050" dirty="0"/>
          </a:p>
        </p:txBody>
      </p:sp>
      <p:sp>
        <p:nvSpPr>
          <p:cNvPr id="3" name="Text 1"/>
          <p:cNvSpPr/>
          <p:nvPr/>
        </p:nvSpPr>
        <p:spPr>
          <a:xfrm>
            <a:off x="609585" y="905450"/>
            <a:ext cx="10972526" cy="426641"/>
          </a:xfrm>
          <a:prstGeom prst="rect">
            <a:avLst/>
          </a:prstGeom>
          <a:noFill/>
          <a:ln/>
        </p:spPr>
        <p:txBody>
          <a:bodyPr wrap="none" lIns="0" tIns="0" rIns="0" bIns="0" rtlCol="0" anchor="t"/>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No todas las pantallas se utilizan de la misma manera</a:t>
            </a:r>
            <a:endParaRPr lang="en-US" sz="3200" dirty="0"/>
          </a:p>
        </p:txBody>
      </p:sp>
      <p:sp>
        <p:nvSpPr>
          <p:cNvPr id="4" name="Text 2"/>
          <p:cNvSpPr/>
          <p:nvPr/>
        </p:nvSpPr>
        <p:spPr>
          <a:xfrm>
            <a:off x="609585" y="1473696"/>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0B1E26"/>
                </a:solidFill>
                <a:latin typeface="Red Hat Text" pitchFamily="34" charset="0"/>
                <a:ea typeface="Red Hat Text" pitchFamily="34" charset="-122"/>
                <a:cs typeface="Red Hat Text" pitchFamily="34" charset="-120"/>
              </a:rPr>
              <a:t>Comparar componentes revela asimetría: las redes y el streaming concentran la mayor parte de la jornada.</a:t>
            </a:r>
            <a:endParaRPr lang="en-US" sz="1400" dirty="0"/>
          </a:p>
        </p:txBody>
      </p:sp>
      <p:pic>
        <p:nvPicPr>
          <p:cNvPr id="5" name="Image 0" descr="preencoded.png"/>
          <p:cNvPicPr>
            <a:picLocks noChangeAspect="1"/>
          </p:cNvPicPr>
          <p:nvPr/>
        </p:nvPicPr>
        <p:blipFill>
          <a:blip r:embed="rId3"/>
          <a:stretch>
            <a:fillRect/>
          </a:stretch>
        </p:blipFill>
        <p:spPr>
          <a:xfrm>
            <a:off x="609585" y="1874937"/>
            <a:ext cx="6659694" cy="3267075"/>
          </a:xfrm>
          <a:prstGeom prst="rect">
            <a:avLst/>
          </a:prstGeom>
        </p:spPr>
      </p:pic>
      <p:sp>
        <p:nvSpPr>
          <p:cNvPr id="6" name="Shape 3"/>
          <p:cNvSpPr/>
          <p:nvPr/>
        </p:nvSpPr>
        <p:spPr>
          <a:xfrm>
            <a:off x="7726368" y="1874937"/>
            <a:ext cx="3855743" cy="2212578"/>
          </a:xfrm>
          <a:prstGeom prst="roundRect">
            <a:avLst>
              <a:gd name="adj" fmla="val 3375"/>
            </a:avLst>
          </a:prstGeom>
          <a:solidFill>
            <a:srgbClr val="CFDDE2"/>
          </a:solidFill>
          <a:ln/>
        </p:spPr>
      </p:sp>
      <p:sp>
        <p:nvSpPr>
          <p:cNvPr id="7" name="Text 4"/>
          <p:cNvSpPr/>
          <p:nvPr/>
        </p:nvSpPr>
        <p:spPr>
          <a:xfrm>
            <a:off x="7929563" y="2117189"/>
            <a:ext cx="3449353" cy="453330"/>
          </a:xfrm>
          <a:prstGeom prst="rect">
            <a:avLst/>
          </a:prstGeom>
          <a:noFill/>
          <a:ln/>
        </p:spPr>
        <p:txBody>
          <a:bodyPr wrap="none" lIns="0" tIns="0" rIns="0" bIns="0" rtlCol="0" anchor="t"/>
          <a:lstStyle/>
          <a:p>
            <a:pPr marL="0" indent="0" algn="l">
              <a:lnSpc>
                <a:spcPct val="88000"/>
              </a:lnSpc>
              <a:buNone/>
            </a:pPr>
            <a:r>
              <a:rPr lang="en-US" sz="3400" b="1" dirty="0">
                <a:solidFill>
                  <a:srgbClr val="0D7D81"/>
                </a:solidFill>
                <a:latin typeface="Host Grotesk Bold" pitchFamily="34" charset="0"/>
                <a:ea typeface="Host Grotesk Bold" pitchFamily="34" charset="-122"/>
                <a:cs typeface="Host Grotesk Bold" pitchFamily="34" charset="-120"/>
              </a:rPr>
              <a:t>11,77 h</a:t>
            </a:r>
            <a:endParaRPr lang="en-US" sz="3400" dirty="0"/>
          </a:p>
        </p:txBody>
      </p:sp>
      <p:sp>
        <p:nvSpPr>
          <p:cNvPr id="8" name="Text 5"/>
          <p:cNvSpPr/>
          <p:nvPr/>
        </p:nvSpPr>
        <p:spPr>
          <a:xfrm>
            <a:off x="7929563" y="2714982"/>
            <a:ext cx="3652548"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TIEMPO TOTAL ORIGINAL</a:t>
            </a:r>
            <a:endParaRPr lang="en-US" sz="1050" dirty="0"/>
          </a:p>
        </p:txBody>
      </p:sp>
      <p:sp>
        <p:nvSpPr>
          <p:cNvPr id="9" name="Text 6"/>
          <p:cNvSpPr/>
          <p:nvPr/>
        </p:nvSpPr>
        <p:spPr>
          <a:xfrm>
            <a:off x="7929563" y="3004165"/>
            <a:ext cx="3449353"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Suma media bruta antes de aplicar filtros de consistencia.</a:t>
            </a:r>
            <a:endParaRPr lang="en-US" sz="1100" dirty="0"/>
          </a:p>
        </p:txBody>
      </p:sp>
      <p:sp>
        <p:nvSpPr>
          <p:cNvPr id="10" name="Text 7"/>
          <p:cNvSpPr/>
          <p:nvPr/>
        </p:nvSpPr>
        <p:spPr>
          <a:xfrm>
            <a:off x="7726368" y="4342467"/>
            <a:ext cx="3855743" cy="559891"/>
          </a:xfrm>
          <a:prstGeom prst="rect">
            <a:avLst/>
          </a:prstGeom>
          <a:noFill/>
          <a:ln/>
        </p:spPr>
        <p:txBody>
          <a:bodyPr wrap="square" lIns="0" tIns="0" rIns="0" bIns="0" rtlCol="0" anchor="t">
            <a:normAutofit lnSpcReduction="10000"/>
          </a:bodyPr>
          <a:lstStyle/>
          <a:p>
            <a:pPr marL="0" indent="0" algn="l">
              <a:lnSpc>
                <a:spcPct val="117000"/>
              </a:lnSpc>
              <a:buNone/>
            </a:pPr>
            <a:r>
              <a:rPr lang="en-US" sz="1050" b="1" dirty="0">
                <a:solidFill>
                  <a:srgbClr val="0B1E26"/>
                </a:solidFill>
                <a:latin typeface="Red Hat Text Bold" pitchFamily="34" charset="0"/>
                <a:ea typeface="Red Hat Text Bold" pitchFamily="34" charset="-122"/>
                <a:cs typeface="Red Hat Text Bold" pitchFamily="34" charset="-120"/>
              </a:rPr>
              <a:t>Aclaración metodológica:</a:t>
            </a:r>
            <a:r>
              <a:rPr lang="en-US" sz="1050" dirty="0">
                <a:solidFill>
                  <a:srgbClr val="0B1E26"/>
                </a:solidFill>
                <a:latin typeface="Red Hat Text" pitchFamily="34" charset="0"/>
                <a:ea typeface="Red Hat Text" pitchFamily="34" charset="-122"/>
                <a:cs typeface="Red Hat Text" pitchFamily="34" charset="-120"/>
              </a:rPr>
              <a:t> promedios originales previos al tratamiento de outliers. No representan el dataset final depurado.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5315"/>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AUDITORÍA Y DIAGNÓSTICO</a:t>
            </a:r>
            <a:endParaRPr lang="en-US" sz="1050" dirty="0"/>
          </a:p>
        </p:txBody>
      </p:sp>
      <p:sp>
        <p:nvSpPr>
          <p:cNvPr id="3" name="Text 1"/>
          <p:cNvSpPr/>
          <p:nvPr/>
        </p:nvSpPr>
        <p:spPr>
          <a:xfrm>
            <a:off x="609585" y="905450"/>
            <a:ext cx="10972526" cy="853281"/>
          </a:xfrm>
          <a:prstGeom prst="rect">
            <a:avLst/>
          </a:prstGeom>
          <a:noFill/>
          <a:ln/>
        </p:spPr>
        <p:txBody>
          <a:bodyPr wrap="square" lIns="0" tIns="0" rIns="0" bIns="0" rtlCol="0" anchor="t">
            <a:normAutofit/>
          </a:bodyPr>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Antes de aplicar Machine Learning, había que comprender la calidad de los datos</a:t>
            </a:r>
            <a:endParaRPr lang="en-US" sz="3200" dirty="0"/>
          </a:p>
        </p:txBody>
      </p:sp>
      <p:sp>
        <p:nvSpPr>
          <p:cNvPr id="4" name="Text 2"/>
          <p:cNvSpPr/>
          <p:nvPr/>
        </p:nvSpPr>
        <p:spPr>
          <a:xfrm>
            <a:off x="609585" y="1900337"/>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0B1E26"/>
                </a:solidFill>
                <a:latin typeface="Red Hat Text" pitchFamily="34" charset="0"/>
                <a:ea typeface="Red Hat Text" pitchFamily="34" charset="-122"/>
                <a:cs typeface="Red Hat Text" pitchFamily="34" charset="-120"/>
              </a:rPr>
              <a:t>La limpieza respondió al objetivo de investigación, no a una regla automática.</a:t>
            </a:r>
            <a:endParaRPr lang="en-US" sz="1400" dirty="0"/>
          </a:p>
        </p:txBody>
      </p:sp>
      <p:pic>
        <p:nvPicPr>
          <p:cNvPr id="5" name="Image 0" descr="preencoded.png"/>
          <p:cNvPicPr>
            <a:picLocks noChangeAspect="1"/>
          </p:cNvPicPr>
          <p:nvPr/>
        </p:nvPicPr>
        <p:blipFill>
          <a:blip r:embed="rId3"/>
          <a:stretch>
            <a:fillRect/>
          </a:stretch>
        </p:blipFill>
        <p:spPr>
          <a:xfrm>
            <a:off x="609585" y="2301577"/>
            <a:ext cx="6659694" cy="3141365"/>
          </a:xfrm>
          <a:prstGeom prst="rect">
            <a:avLst/>
          </a:prstGeom>
        </p:spPr>
      </p:pic>
      <p:sp>
        <p:nvSpPr>
          <p:cNvPr id="6" name="Shape 3"/>
          <p:cNvSpPr/>
          <p:nvPr/>
        </p:nvSpPr>
        <p:spPr>
          <a:xfrm>
            <a:off x="7726368" y="2301577"/>
            <a:ext cx="3855743" cy="1398091"/>
          </a:xfrm>
          <a:prstGeom prst="roundRect">
            <a:avLst>
              <a:gd name="adj" fmla="val 5341"/>
            </a:avLst>
          </a:prstGeom>
          <a:noFill/>
          <a:ln w="19050">
            <a:solidFill>
              <a:srgbClr val="26969A"/>
            </a:solidFill>
            <a:prstDash val="solid"/>
          </a:ln>
        </p:spPr>
      </p:sp>
      <p:sp>
        <p:nvSpPr>
          <p:cNvPr id="7" name="Text 4"/>
          <p:cNvSpPr/>
          <p:nvPr/>
        </p:nvSpPr>
        <p:spPr>
          <a:xfrm>
            <a:off x="7923213" y="2504142"/>
            <a:ext cx="365889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VALORES INVÁLIDOS</a:t>
            </a:r>
            <a:endParaRPr lang="en-US" sz="1050" dirty="0"/>
          </a:p>
        </p:txBody>
      </p:sp>
      <p:sp>
        <p:nvSpPr>
          <p:cNvPr id="8" name="Text 5"/>
          <p:cNvSpPr/>
          <p:nvPr/>
        </p:nvSpPr>
        <p:spPr>
          <a:xfrm>
            <a:off x="7923213" y="2777609"/>
            <a:ext cx="3462052"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Sueño con registros negativos</a:t>
            </a:r>
            <a:endParaRPr lang="en-US" sz="1700" dirty="0"/>
          </a:p>
        </p:txBody>
      </p:sp>
      <p:sp>
        <p:nvSpPr>
          <p:cNvPr id="9" name="Text 6"/>
          <p:cNvSpPr/>
          <p:nvPr/>
        </p:nvSpPr>
        <p:spPr>
          <a:xfrm>
            <a:off x="7923213" y="3115191"/>
            <a:ext cx="3462052"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Las duraciones de sueño originales incluían valores negativos, incompatibles con una duración real.</a:t>
            </a:r>
            <a:endParaRPr lang="en-US" sz="1100" dirty="0"/>
          </a:p>
        </p:txBody>
      </p:sp>
      <p:sp>
        <p:nvSpPr>
          <p:cNvPr id="10" name="Shape 7"/>
          <p:cNvSpPr/>
          <p:nvPr/>
        </p:nvSpPr>
        <p:spPr>
          <a:xfrm>
            <a:off x="7726368" y="3852069"/>
            <a:ext cx="3855743" cy="1593652"/>
          </a:xfrm>
          <a:prstGeom prst="roundRect">
            <a:avLst>
              <a:gd name="adj" fmla="val 4686"/>
            </a:avLst>
          </a:prstGeom>
          <a:noFill/>
          <a:ln w="19050">
            <a:solidFill>
              <a:srgbClr val="26969A"/>
            </a:solidFill>
            <a:prstDash val="solid"/>
          </a:ln>
        </p:spPr>
      </p:sp>
      <p:sp>
        <p:nvSpPr>
          <p:cNvPr id="11" name="Text 8"/>
          <p:cNvSpPr/>
          <p:nvPr/>
        </p:nvSpPr>
        <p:spPr>
          <a:xfrm>
            <a:off x="7923213" y="4054634"/>
            <a:ext cx="365889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FALTANTES</a:t>
            </a:r>
            <a:endParaRPr lang="en-US" sz="1050" dirty="0"/>
          </a:p>
        </p:txBody>
      </p:sp>
      <p:sp>
        <p:nvSpPr>
          <p:cNvPr id="12" name="Text 9"/>
          <p:cNvSpPr/>
          <p:nvPr/>
        </p:nvSpPr>
        <p:spPr>
          <a:xfrm>
            <a:off x="7923213" y="4328100"/>
            <a:ext cx="3462052"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Porcentaje por variable</a:t>
            </a:r>
            <a:endParaRPr lang="en-US" sz="1700" dirty="0"/>
          </a:p>
        </p:txBody>
      </p:sp>
      <p:sp>
        <p:nvSpPr>
          <p:cNvPr id="13" name="Text 10"/>
          <p:cNvSpPr/>
          <p:nvPr/>
        </p:nvSpPr>
        <p:spPr>
          <a:xfrm>
            <a:off x="7923213" y="4665682"/>
            <a:ext cx="3462052" cy="58668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Promedio académico: </a:t>
            </a:r>
            <a:r>
              <a:rPr lang="en-US" sz="1100" b="1" dirty="0">
                <a:solidFill>
                  <a:srgbClr val="0B1E26"/>
                </a:solidFill>
                <a:latin typeface="Red Hat Text Bold" pitchFamily="34" charset="0"/>
                <a:ea typeface="Red Hat Text Bold" pitchFamily="34" charset="-122"/>
                <a:cs typeface="Red Hat Text Bold" pitchFamily="34" charset="-120"/>
              </a:rPr>
              <a:t>69,45 %</a:t>
            </a:r>
            <a:r>
              <a:rPr lang="en-US" sz="1100" dirty="0">
                <a:solidFill>
                  <a:srgbClr val="0B1E26"/>
                </a:solidFill>
                <a:latin typeface="Red Hat Text" pitchFamily="34" charset="0"/>
                <a:ea typeface="Red Hat Text" pitchFamily="34" charset="-122"/>
                <a:cs typeface="Red Hat Text" pitchFamily="34" charset="-120"/>
              </a:rPr>
              <a:t> faltante. Variables porcentuales de consumo: </a:t>
            </a:r>
            <a:r>
              <a:rPr lang="en-US" sz="1100" b="1" dirty="0">
                <a:solidFill>
                  <a:srgbClr val="0B1E26"/>
                </a:solidFill>
                <a:latin typeface="Red Hat Text Bold" pitchFamily="34" charset="0"/>
                <a:ea typeface="Red Hat Text Bold" pitchFamily="34" charset="-122"/>
                <a:cs typeface="Red Hat Text Bold" pitchFamily="34" charset="-120"/>
              </a:rPr>
              <a:t>27,85 %</a:t>
            </a:r>
            <a:r>
              <a:rPr lang="en-US" sz="1100" dirty="0">
                <a:solidFill>
                  <a:srgbClr val="0B1E26"/>
                </a:solidFill>
                <a:latin typeface="Red Hat Text" pitchFamily="34" charset="0"/>
                <a:ea typeface="Red Hat Text" pitchFamily="34" charset="-122"/>
                <a:cs typeface="Red Hat Text" pitchFamily="34" charset="-120"/>
              </a:rPr>
              <a:t> faltante. WAZ: </a:t>
            </a:r>
            <a:r>
              <a:rPr lang="en-US" sz="1100" b="1" dirty="0">
                <a:solidFill>
                  <a:srgbClr val="0B1E26"/>
                </a:solidFill>
                <a:latin typeface="Red Hat Text Bold" pitchFamily="34" charset="0"/>
                <a:ea typeface="Red Hat Text Bold" pitchFamily="34" charset="-122"/>
                <a:cs typeface="Red Hat Text Bold" pitchFamily="34" charset="-120"/>
              </a:rPr>
              <a:t>99,34 %</a:t>
            </a:r>
            <a:r>
              <a:rPr lang="en-US" sz="1100" dirty="0">
                <a:solidFill>
                  <a:srgbClr val="0B1E26"/>
                </a:solidFill>
                <a:latin typeface="Red Hat Text" pitchFamily="34" charset="0"/>
                <a:ea typeface="Red Hat Text" pitchFamily="34" charset="-122"/>
                <a:cs typeface="Red Hat Text" pitchFamily="34" charset="-120"/>
              </a:rPr>
              <a:t> faltante.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5315"/>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ESTRATEGIA ANALÍTICA</a:t>
            </a:r>
            <a:endParaRPr lang="en-US" sz="1050" dirty="0"/>
          </a:p>
        </p:txBody>
      </p:sp>
      <p:sp>
        <p:nvSpPr>
          <p:cNvPr id="3" name="Text 1"/>
          <p:cNvSpPr/>
          <p:nvPr/>
        </p:nvSpPr>
        <p:spPr>
          <a:xfrm>
            <a:off x="609585" y="905450"/>
            <a:ext cx="10972526" cy="426641"/>
          </a:xfrm>
          <a:prstGeom prst="rect">
            <a:avLst/>
          </a:prstGeom>
          <a:noFill/>
          <a:ln/>
        </p:spPr>
        <p:txBody>
          <a:bodyPr wrap="none" lIns="0" tIns="0" rIns="0" bIns="0" rtlCol="0" anchor="t"/>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Decisiones que preparan los datos para segmentar</a:t>
            </a:r>
            <a:endParaRPr lang="en-US" sz="3200" dirty="0"/>
          </a:p>
        </p:txBody>
      </p:sp>
      <p:sp>
        <p:nvSpPr>
          <p:cNvPr id="4" name="Text 2"/>
          <p:cNvSpPr/>
          <p:nvPr/>
        </p:nvSpPr>
        <p:spPr>
          <a:xfrm>
            <a:off x="609585" y="1473696"/>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0B1E26"/>
                </a:solidFill>
                <a:latin typeface="Red Hat Text" pitchFamily="34" charset="0"/>
                <a:ea typeface="Red Hat Text" pitchFamily="34" charset="-122"/>
                <a:cs typeface="Red Hat Text" pitchFamily="34" charset="-120"/>
              </a:rPr>
              <a:t>Separar los componentes individuales preserva la firma digital de cada adolescente.</a:t>
            </a:r>
            <a:endParaRPr lang="en-US" sz="1400" dirty="0"/>
          </a:p>
        </p:txBody>
      </p:sp>
      <p:sp>
        <p:nvSpPr>
          <p:cNvPr id="5" name="Text 3"/>
          <p:cNvSpPr/>
          <p:nvPr/>
        </p:nvSpPr>
        <p:spPr>
          <a:xfrm>
            <a:off x="609585" y="1945263"/>
            <a:ext cx="2150413"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Diagnóstico IQR</a:t>
            </a:r>
            <a:endParaRPr lang="en-US" sz="1700" dirty="0"/>
          </a:p>
        </p:txBody>
      </p:sp>
      <p:sp>
        <p:nvSpPr>
          <p:cNvPr id="6" name="Text 4"/>
          <p:cNvSpPr/>
          <p:nvPr/>
        </p:nvSpPr>
        <p:spPr>
          <a:xfrm>
            <a:off x="609585" y="2282845"/>
            <a:ext cx="2150413"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Identificar valores extremos sin asumir de inmediato que todo outlier constituye un error de medición.</a:t>
            </a:r>
            <a:endParaRPr lang="en-US" sz="1100" dirty="0"/>
          </a:p>
        </p:txBody>
      </p:sp>
      <p:sp>
        <p:nvSpPr>
          <p:cNvPr id="7" name="Text 5"/>
          <p:cNvSpPr/>
          <p:nvPr/>
        </p:nvSpPr>
        <p:spPr>
          <a:xfrm>
            <a:off x="2912394" y="1945263"/>
            <a:ext cx="2150513"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Versiones trimmed</a:t>
            </a:r>
            <a:endParaRPr lang="en-US" sz="1700" dirty="0"/>
          </a:p>
        </p:txBody>
      </p:sp>
      <p:sp>
        <p:nvSpPr>
          <p:cNvPr id="8" name="Text 6"/>
          <p:cNvSpPr/>
          <p:nvPr/>
        </p:nvSpPr>
        <p:spPr>
          <a:xfrm>
            <a:off x="2912394" y="2282845"/>
            <a:ext cx="2150513" cy="782241"/>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Priorizar rangos acotados y robustos para evitar que colas largas distorsionen las distancias Euclídeas.</a:t>
            </a:r>
            <a:endParaRPr lang="en-US" sz="1100" dirty="0"/>
          </a:p>
        </p:txBody>
      </p:sp>
      <p:sp>
        <p:nvSpPr>
          <p:cNvPr id="9" name="Text 7"/>
          <p:cNvSpPr/>
          <p:nvPr/>
        </p:nvSpPr>
        <p:spPr>
          <a:xfrm>
            <a:off x="5215303" y="1945263"/>
            <a:ext cx="2150413"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Desagregación</a:t>
            </a:r>
            <a:endParaRPr lang="en-US" sz="1700" dirty="0"/>
          </a:p>
        </p:txBody>
      </p:sp>
      <p:sp>
        <p:nvSpPr>
          <p:cNvPr id="10" name="Text 8"/>
          <p:cNvSpPr/>
          <p:nvPr/>
        </p:nvSpPr>
        <p:spPr>
          <a:xfrm>
            <a:off x="5215303" y="2282845"/>
            <a:ext cx="2150413" cy="58668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Excluir el tiempo total consolidado y evitar colinealidad con las actividades desagregadas.</a:t>
            </a:r>
            <a:endParaRPr lang="en-US" sz="1100" dirty="0"/>
          </a:p>
        </p:txBody>
      </p:sp>
      <p:sp>
        <p:nvSpPr>
          <p:cNvPr id="11" name="Shape 9"/>
          <p:cNvSpPr/>
          <p:nvPr/>
        </p:nvSpPr>
        <p:spPr>
          <a:xfrm>
            <a:off x="7670509" y="1925737"/>
            <a:ext cx="3911601" cy="1904206"/>
          </a:xfrm>
          <a:prstGeom prst="roundRect">
            <a:avLst>
              <a:gd name="adj" fmla="val 3922"/>
            </a:avLst>
          </a:prstGeom>
          <a:solidFill>
            <a:srgbClr val="CFDDE2"/>
          </a:solidFill>
          <a:ln/>
        </p:spPr>
      </p:sp>
      <p:sp>
        <p:nvSpPr>
          <p:cNvPr id="12" name="Text 10"/>
          <p:cNvSpPr/>
          <p:nvPr/>
        </p:nvSpPr>
        <p:spPr>
          <a:xfrm>
            <a:off x="7899103" y="2207677"/>
            <a:ext cx="3454413" cy="586680"/>
          </a:xfrm>
          <a:prstGeom prst="rect">
            <a:avLst/>
          </a:prstGeom>
          <a:noFill/>
          <a:ln/>
        </p:spPr>
        <p:txBody>
          <a:bodyPr wrap="none" lIns="0" tIns="0" rIns="0" bIns="0" rtlCol="0" anchor="t"/>
          <a:lstStyle/>
          <a:p>
            <a:pPr marL="0" indent="0" algn="l">
              <a:lnSpc>
                <a:spcPct val="87000"/>
              </a:lnSpc>
              <a:buNone/>
            </a:pPr>
            <a:r>
              <a:rPr lang="en-US" sz="4400" b="1" dirty="0">
                <a:solidFill>
                  <a:srgbClr val="0D7D81"/>
                </a:solidFill>
                <a:latin typeface="Host Grotesk Bold" pitchFamily="34" charset="0"/>
                <a:ea typeface="Host Grotesk Bold" pitchFamily="34" charset="-122"/>
                <a:cs typeface="Host Grotesk Bold" pitchFamily="34" charset="-120"/>
              </a:rPr>
              <a:t>100 %</a:t>
            </a:r>
            <a:endParaRPr lang="en-US" sz="4400" dirty="0"/>
          </a:p>
        </p:txBody>
      </p:sp>
      <p:sp>
        <p:nvSpPr>
          <p:cNvPr id="13" name="Text 11"/>
          <p:cNvSpPr/>
          <p:nvPr/>
        </p:nvSpPr>
        <p:spPr>
          <a:xfrm>
            <a:off x="7899103" y="2924532"/>
            <a:ext cx="3683007"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CONSISTENCIA MATEMÁTICA</a:t>
            </a:r>
            <a:endParaRPr lang="en-US" sz="1050" dirty="0"/>
          </a:p>
        </p:txBody>
      </p:sp>
      <p:sp>
        <p:nvSpPr>
          <p:cNvPr id="14" name="Text 12"/>
          <p:cNvSpPr/>
          <p:nvPr/>
        </p:nvSpPr>
        <p:spPr>
          <a:xfrm>
            <a:off x="7899103" y="3213715"/>
            <a:ext cx="3454413"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En los 4.115 registros, el tiempo total coincide con la suma de sus 5 componentes (tolerancia ±0,05 h).</a:t>
            </a:r>
            <a:endParaRPr lang="en-US" sz="1100" dirty="0"/>
          </a:p>
        </p:txBody>
      </p:sp>
      <p:sp>
        <p:nvSpPr>
          <p:cNvPr id="15" name="Shape 13"/>
          <p:cNvSpPr/>
          <p:nvPr/>
        </p:nvSpPr>
        <p:spPr>
          <a:xfrm>
            <a:off x="609585" y="4007743"/>
            <a:ext cx="10972526" cy="835620"/>
          </a:xfrm>
          <a:prstGeom prst="roundRect">
            <a:avLst>
              <a:gd name="adj" fmla="val 8936"/>
            </a:avLst>
          </a:prstGeom>
          <a:solidFill>
            <a:srgbClr val="D1F9FA"/>
          </a:solidFill>
          <a:ln/>
        </p:spPr>
      </p:sp>
      <p:sp>
        <p:nvSpPr>
          <p:cNvPr id="16" name="Text 14"/>
          <p:cNvSpPr/>
          <p:nvPr/>
        </p:nvSpPr>
        <p:spPr>
          <a:xfrm>
            <a:off x="787380" y="4233486"/>
            <a:ext cx="10616934"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b="1" dirty="0">
                <a:solidFill>
                  <a:srgbClr val="000000"/>
                </a:solidFill>
                <a:latin typeface="Red Hat Text Bold" pitchFamily="34" charset="0"/>
                <a:ea typeface="Red Hat Text Bold" pitchFamily="34" charset="-122"/>
                <a:cs typeface="Red Hat Text Bold" pitchFamily="34" charset="-120"/>
              </a:rPr>
              <a:t>Las 5 actividades clave:</a:t>
            </a:r>
            <a:r>
              <a:rPr lang="en-US" sz="1100" dirty="0">
                <a:solidFill>
                  <a:srgbClr val="000000"/>
                </a:solidFill>
                <a:latin typeface="Red Hat Text" pitchFamily="34" charset="0"/>
                <a:ea typeface="Red Hat Text" pitchFamily="34" charset="-122"/>
                <a:cs typeface="Red Hat Text" pitchFamily="34" charset="-120"/>
              </a:rPr>
              <a:t> Redes sociales · Streaming · Videojuegos · Juegos tablet/celular · Otras actividades. Conservarlas por separado permite encontrar perfiles especializados.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5315"/>
            <a:ext cx="11582110"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0B1E26"/>
                </a:solidFill>
                <a:latin typeface="Space Mono" pitchFamily="34" charset="0"/>
                <a:ea typeface="Space Mono" pitchFamily="34" charset="-122"/>
                <a:cs typeface="Space Mono" pitchFamily="34" charset="-120"/>
              </a:rPr>
              <a:t>PIPELINE DE TRANSFORMACIÓN</a:t>
            </a:r>
            <a:endParaRPr lang="en-US" sz="1050" dirty="0"/>
          </a:p>
        </p:txBody>
      </p:sp>
      <p:sp>
        <p:nvSpPr>
          <p:cNvPr id="3" name="Text 1"/>
          <p:cNvSpPr/>
          <p:nvPr/>
        </p:nvSpPr>
        <p:spPr>
          <a:xfrm>
            <a:off x="609585" y="905450"/>
            <a:ext cx="10972526" cy="426641"/>
          </a:xfrm>
          <a:prstGeom prst="rect">
            <a:avLst/>
          </a:prstGeom>
          <a:noFill/>
          <a:ln/>
        </p:spPr>
        <p:txBody>
          <a:bodyPr wrap="none" lIns="0" tIns="0" rIns="0" bIns="0" rtlCol="0" anchor="t"/>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De 125 variables a un dataset orientado al objetivo</a:t>
            </a:r>
            <a:endParaRPr lang="en-US" sz="3200" dirty="0"/>
          </a:p>
        </p:txBody>
      </p:sp>
      <p:sp>
        <p:nvSpPr>
          <p:cNvPr id="4" name="Text 2"/>
          <p:cNvSpPr/>
          <p:nvPr/>
        </p:nvSpPr>
        <p:spPr>
          <a:xfrm>
            <a:off x="609585" y="1473696"/>
            <a:ext cx="11582110" cy="248841"/>
          </a:xfrm>
          <a:prstGeom prst="rect">
            <a:avLst/>
          </a:prstGeom>
          <a:noFill/>
          <a:ln/>
        </p:spPr>
        <p:txBody>
          <a:bodyPr wrap="none" lIns="0" tIns="0" rIns="0" bIns="0" rtlCol="0" anchor="t"/>
          <a:lstStyle/>
          <a:p>
            <a:pPr marL="0" indent="0" algn="l">
              <a:lnSpc>
                <a:spcPct val="117000"/>
              </a:lnSpc>
              <a:buNone/>
            </a:pPr>
            <a:r>
              <a:rPr lang="en-US" sz="1400" dirty="0">
                <a:solidFill>
                  <a:srgbClr val="0B1E26"/>
                </a:solidFill>
                <a:latin typeface="Red Hat Text" pitchFamily="34" charset="0"/>
                <a:ea typeface="Red Hat Text" pitchFamily="34" charset="-122"/>
                <a:cs typeface="Red Hat Text" pitchFamily="34" charset="-120"/>
              </a:rPr>
              <a:t>Un filtrado fundamentado para construir un espacio de representación analíticamente útil.</a:t>
            </a:r>
            <a:endParaRPr lang="en-US" sz="1400" dirty="0"/>
          </a:p>
        </p:txBody>
      </p:sp>
      <p:sp>
        <p:nvSpPr>
          <p:cNvPr id="5" name="Shape 3"/>
          <p:cNvSpPr/>
          <p:nvPr/>
        </p:nvSpPr>
        <p:spPr>
          <a:xfrm>
            <a:off x="609585" y="1925737"/>
            <a:ext cx="3108843" cy="3313708"/>
          </a:xfrm>
          <a:prstGeom prst="roundRect">
            <a:avLst>
              <a:gd name="adj" fmla="val 2402"/>
            </a:avLst>
          </a:prstGeom>
          <a:solidFill>
            <a:srgbClr val="CFDDE2"/>
          </a:solidFill>
          <a:ln/>
        </p:spPr>
      </p:sp>
      <p:sp>
        <p:nvSpPr>
          <p:cNvPr id="6" name="Text 4"/>
          <p:cNvSpPr/>
          <p:nvPr/>
        </p:nvSpPr>
        <p:spPr>
          <a:xfrm>
            <a:off x="838179" y="2210852"/>
            <a:ext cx="2880248"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0B1E26"/>
                </a:solidFill>
                <a:latin typeface="Space Mono Bold" pitchFamily="34" charset="0"/>
                <a:ea typeface="Space Mono Bold" pitchFamily="34" charset="-122"/>
                <a:cs typeface="Space Mono Bold" pitchFamily="34" charset="-120"/>
              </a:rPr>
              <a:t>DATASET ORIGINAL</a:t>
            </a:r>
            <a:endParaRPr lang="en-US" sz="1050" dirty="0"/>
          </a:p>
        </p:txBody>
      </p:sp>
      <p:sp>
        <p:nvSpPr>
          <p:cNvPr id="7" name="Text 5"/>
          <p:cNvSpPr/>
          <p:nvPr/>
        </p:nvSpPr>
        <p:spPr>
          <a:xfrm>
            <a:off x="838179" y="2510512"/>
            <a:ext cx="2651654" cy="559991"/>
          </a:xfrm>
          <a:prstGeom prst="rect">
            <a:avLst/>
          </a:prstGeom>
          <a:noFill/>
          <a:ln/>
        </p:spPr>
        <p:txBody>
          <a:bodyPr wrap="none" lIns="0" tIns="0" rIns="0" bIns="0" rtlCol="0" anchor="t"/>
          <a:lstStyle/>
          <a:p>
            <a:pPr marL="0" indent="0" algn="l">
              <a:lnSpc>
                <a:spcPct val="87000"/>
              </a:lnSpc>
              <a:buNone/>
            </a:pPr>
            <a:r>
              <a:rPr lang="en-US" sz="4200" b="1" dirty="0">
                <a:solidFill>
                  <a:srgbClr val="0B1E26"/>
                </a:solidFill>
                <a:latin typeface="Host Grotesk Bold" pitchFamily="34" charset="0"/>
                <a:ea typeface="Host Grotesk Bold" pitchFamily="34" charset="-122"/>
                <a:cs typeface="Host Grotesk Bold" pitchFamily="34" charset="-120"/>
              </a:rPr>
              <a:t>4.115</a:t>
            </a:r>
            <a:endParaRPr lang="en-US" sz="4200" dirty="0"/>
          </a:p>
        </p:txBody>
      </p:sp>
      <p:sp>
        <p:nvSpPr>
          <p:cNvPr id="8" name="Text 6"/>
          <p:cNvSpPr/>
          <p:nvPr/>
        </p:nvSpPr>
        <p:spPr>
          <a:xfrm>
            <a:off x="838179" y="3206075"/>
            <a:ext cx="2880248" cy="195560"/>
          </a:xfrm>
          <a:prstGeom prst="rect">
            <a:avLst/>
          </a:prstGeom>
          <a:noFill/>
          <a:ln/>
        </p:spPr>
        <p:txBody>
          <a:bodyPr wrap="none" lIns="0" tIns="0" rIns="0" bIns="0" rtlCol="0" anchor="t"/>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Registros iniciales</a:t>
            </a:r>
            <a:endParaRPr lang="en-US" sz="1100" dirty="0"/>
          </a:p>
        </p:txBody>
      </p:sp>
      <p:sp>
        <p:nvSpPr>
          <p:cNvPr id="9" name="Shape 7"/>
          <p:cNvSpPr/>
          <p:nvPr/>
        </p:nvSpPr>
        <p:spPr>
          <a:xfrm>
            <a:off x="838179" y="3547368"/>
            <a:ext cx="2651654" cy="19050"/>
          </a:xfrm>
          <a:prstGeom prst="roundRect">
            <a:avLst>
              <a:gd name="adj" fmla="val 49999"/>
            </a:avLst>
          </a:prstGeom>
          <a:solidFill>
            <a:srgbClr val="000000">
              <a:alpha val="8000"/>
            </a:srgbClr>
          </a:solidFill>
          <a:ln/>
        </p:spPr>
      </p:sp>
      <p:sp>
        <p:nvSpPr>
          <p:cNvPr id="10" name="Text 8"/>
          <p:cNvSpPr/>
          <p:nvPr/>
        </p:nvSpPr>
        <p:spPr>
          <a:xfrm>
            <a:off x="838179" y="3805813"/>
            <a:ext cx="2651654" cy="426641"/>
          </a:xfrm>
          <a:prstGeom prst="rect">
            <a:avLst/>
          </a:prstGeom>
          <a:noFill/>
          <a:ln/>
        </p:spPr>
        <p:txBody>
          <a:bodyPr wrap="none" lIns="0" tIns="0" rIns="0" bIns="0" rtlCol="0" anchor="t"/>
          <a:lstStyle/>
          <a:p>
            <a:pPr marL="0" indent="0" algn="l">
              <a:lnSpc>
                <a:spcPct val="87000"/>
              </a:lnSpc>
              <a:buNone/>
            </a:pPr>
            <a:r>
              <a:rPr lang="en-US" sz="3200" b="1" dirty="0">
                <a:solidFill>
                  <a:srgbClr val="0B1E26"/>
                </a:solidFill>
                <a:latin typeface="Host Grotesk Bold" pitchFamily="34" charset="0"/>
                <a:ea typeface="Host Grotesk Bold" pitchFamily="34" charset="-122"/>
                <a:cs typeface="Host Grotesk Bold" pitchFamily="34" charset="-120"/>
              </a:rPr>
              <a:t>125</a:t>
            </a:r>
            <a:endParaRPr lang="en-US" sz="3200" dirty="0"/>
          </a:p>
        </p:txBody>
      </p:sp>
      <p:sp>
        <p:nvSpPr>
          <p:cNvPr id="11" name="Text 9"/>
          <p:cNvSpPr/>
          <p:nvPr/>
        </p:nvSpPr>
        <p:spPr>
          <a:xfrm>
            <a:off x="838179" y="4377551"/>
            <a:ext cx="2880248" cy="195560"/>
          </a:xfrm>
          <a:prstGeom prst="rect">
            <a:avLst/>
          </a:prstGeom>
          <a:noFill/>
          <a:ln/>
        </p:spPr>
        <p:txBody>
          <a:bodyPr wrap="none" lIns="0" tIns="0" rIns="0" bIns="0" rtlCol="0" anchor="t"/>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Variables brutas</a:t>
            </a:r>
            <a:endParaRPr lang="en-US" sz="1100" dirty="0"/>
          </a:p>
        </p:txBody>
      </p:sp>
      <p:sp>
        <p:nvSpPr>
          <p:cNvPr id="12" name="Shape 10"/>
          <p:cNvSpPr/>
          <p:nvPr/>
        </p:nvSpPr>
        <p:spPr>
          <a:xfrm>
            <a:off x="4124718" y="2027337"/>
            <a:ext cx="3942160" cy="935236"/>
          </a:xfrm>
          <a:prstGeom prst="roundRect">
            <a:avLst>
              <a:gd name="adj" fmla="val 7985"/>
            </a:avLst>
          </a:prstGeom>
          <a:noFill/>
          <a:ln w="19050">
            <a:solidFill>
              <a:srgbClr val="26969A"/>
            </a:solidFill>
            <a:prstDash val="solid"/>
          </a:ln>
        </p:spPr>
      </p:sp>
      <p:sp>
        <p:nvSpPr>
          <p:cNvPr id="13" name="Text 11"/>
          <p:cNvSpPr/>
          <p:nvPr/>
        </p:nvSpPr>
        <p:spPr>
          <a:xfrm>
            <a:off x="4219966" y="2142113"/>
            <a:ext cx="3751665"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−53 registros excluidos</a:t>
            </a:r>
            <a:endParaRPr lang="en-US" sz="1700" dirty="0"/>
          </a:p>
        </p:txBody>
      </p:sp>
      <p:sp>
        <p:nvSpPr>
          <p:cNvPr id="14" name="Text 12"/>
          <p:cNvSpPr/>
          <p:nvPr/>
        </p:nvSpPr>
        <p:spPr>
          <a:xfrm>
            <a:off x="4219966" y="2479695"/>
            <a:ext cx="3751665"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Casos con edad superior a 18 años eliminados para acotar la población adolescente.</a:t>
            </a:r>
            <a:endParaRPr lang="en-US" sz="1100" dirty="0"/>
          </a:p>
        </p:txBody>
      </p:sp>
      <p:sp>
        <p:nvSpPr>
          <p:cNvPr id="15" name="Shape 13"/>
          <p:cNvSpPr/>
          <p:nvPr/>
        </p:nvSpPr>
        <p:spPr>
          <a:xfrm>
            <a:off x="4124718" y="3114973"/>
            <a:ext cx="3942160" cy="935236"/>
          </a:xfrm>
          <a:prstGeom prst="roundRect">
            <a:avLst>
              <a:gd name="adj" fmla="val 7985"/>
            </a:avLst>
          </a:prstGeom>
          <a:noFill/>
          <a:ln w="19050">
            <a:solidFill>
              <a:srgbClr val="26969A"/>
            </a:solidFill>
            <a:prstDash val="solid"/>
          </a:ln>
        </p:spPr>
      </p:sp>
      <p:sp>
        <p:nvSpPr>
          <p:cNvPr id="16" name="Text 14"/>
          <p:cNvSpPr/>
          <p:nvPr/>
        </p:nvSpPr>
        <p:spPr>
          <a:xfrm>
            <a:off x="4219966" y="3229749"/>
            <a:ext cx="3751665"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+562 registros retenidos</a:t>
            </a:r>
            <a:endParaRPr lang="en-US" sz="1700" dirty="0"/>
          </a:p>
        </p:txBody>
      </p:sp>
      <p:sp>
        <p:nvSpPr>
          <p:cNvPr id="17" name="Text 15"/>
          <p:cNvSpPr/>
          <p:nvPr/>
        </p:nvSpPr>
        <p:spPr>
          <a:xfrm>
            <a:off x="4219966" y="3567331"/>
            <a:ext cx="3751665"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Casos sin edad informada fueron conservados para evaluar patrones de respuesta.</a:t>
            </a:r>
            <a:endParaRPr lang="en-US" sz="1100" dirty="0"/>
          </a:p>
        </p:txBody>
      </p:sp>
      <p:sp>
        <p:nvSpPr>
          <p:cNvPr id="18" name="Shape 16"/>
          <p:cNvSpPr/>
          <p:nvPr/>
        </p:nvSpPr>
        <p:spPr>
          <a:xfrm>
            <a:off x="4124718" y="4202609"/>
            <a:ext cx="3942160" cy="935236"/>
          </a:xfrm>
          <a:prstGeom prst="roundRect">
            <a:avLst>
              <a:gd name="adj" fmla="val 7985"/>
            </a:avLst>
          </a:prstGeom>
          <a:noFill/>
          <a:ln w="19050">
            <a:solidFill>
              <a:srgbClr val="26969A"/>
            </a:solidFill>
            <a:prstDash val="solid"/>
          </a:ln>
        </p:spPr>
      </p:sp>
      <p:sp>
        <p:nvSpPr>
          <p:cNvPr id="19" name="Text 17"/>
          <p:cNvSpPr/>
          <p:nvPr/>
        </p:nvSpPr>
        <p:spPr>
          <a:xfrm>
            <a:off x="4219966" y="4317385"/>
            <a:ext cx="3751665" cy="226616"/>
          </a:xfrm>
          <a:prstGeom prst="rect">
            <a:avLst/>
          </a:prstGeom>
          <a:noFill/>
          <a:ln/>
        </p:spPr>
        <p:txBody>
          <a:bodyPr wrap="none" lIns="0" tIns="0" rIns="0" bIns="0" rtlCol="0" anchor="t"/>
          <a:lstStyle/>
          <a:p>
            <a:pPr marL="0" indent="0" algn="l">
              <a:lnSpc>
                <a:spcPct val="87000"/>
              </a:lnSpc>
              <a:buNone/>
            </a:pPr>
            <a:r>
              <a:rPr lang="en-US" sz="1700" dirty="0">
                <a:solidFill>
                  <a:srgbClr val="0B1E26"/>
                </a:solidFill>
                <a:latin typeface="Host Grotesk SemiBold" pitchFamily="34" charset="0"/>
                <a:ea typeface="Host Grotesk SemiBold" pitchFamily="34" charset="-122"/>
                <a:cs typeface="Host Grotesk SemiBold" pitchFamily="34" charset="-120"/>
              </a:rPr>
              <a:t>Selección de 32 features</a:t>
            </a:r>
            <a:endParaRPr lang="en-US" sz="1700" dirty="0"/>
          </a:p>
        </p:txBody>
      </p:sp>
      <p:sp>
        <p:nvSpPr>
          <p:cNvPr id="20" name="Text 18"/>
          <p:cNvSpPr/>
          <p:nvPr/>
        </p:nvSpPr>
        <p:spPr>
          <a:xfrm>
            <a:off x="4219966" y="4654967"/>
            <a:ext cx="3751665" cy="391120"/>
          </a:xfrm>
          <a:prstGeom prst="rect">
            <a:avLst/>
          </a:prstGeom>
          <a:noFill/>
          <a:ln/>
        </p:spPr>
        <p:txBody>
          <a:bodyPr wrap="square" lIns="0" tIns="0" rIns="0" bIns="0" rtlCol="0" anchor="t">
            <a:normAutofit lnSpcReduction="10000"/>
          </a:bodyPr>
          <a:lstStyle/>
          <a:p>
            <a:pPr marL="0" indent="0" algn="l">
              <a:lnSpc>
                <a:spcPct val="117000"/>
              </a:lnSpc>
              <a:buNone/>
            </a:pPr>
            <a:r>
              <a:rPr lang="en-US" sz="1100" dirty="0">
                <a:solidFill>
                  <a:srgbClr val="0B1E26"/>
                </a:solidFill>
                <a:latin typeface="Red Hat Text" pitchFamily="34" charset="0"/>
                <a:ea typeface="Red Hat Text" pitchFamily="34" charset="-122"/>
                <a:cs typeface="Red Hat Text" pitchFamily="34" charset="-120"/>
              </a:rPr>
              <a:t>Depuración de redundancias, descartes por varianza nula y variables correlacionadas.</a:t>
            </a:r>
            <a:endParaRPr lang="en-US" sz="1100" dirty="0"/>
          </a:p>
        </p:txBody>
      </p:sp>
      <p:sp>
        <p:nvSpPr>
          <p:cNvPr id="21" name="Shape 19"/>
          <p:cNvSpPr/>
          <p:nvPr/>
        </p:nvSpPr>
        <p:spPr>
          <a:xfrm>
            <a:off x="8473168" y="1925737"/>
            <a:ext cx="3108942" cy="3313708"/>
          </a:xfrm>
          <a:prstGeom prst="roundRect">
            <a:avLst>
              <a:gd name="adj" fmla="val 2402"/>
            </a:avLst>
          </a:prstGeom>
          <a:solidFill>
            <a:srgbClr val="0D7D81"/>
          </a:solidFill>
          <a:ln/>
        </p:spPr>
      </p:sp>
      <p:sp>
        <p:nvSpPr>
          <p:cNvPr id="22" name="Text 20"/>
          <p:cNvSpPr/>
          <p:nvPr/>
        </p:nvSpPr>
        <p:spPr>
          <a:xfrm>
            <a:off x="8701763" y="2210852"/>
            <a:ext cx="2880347" cy="186630"/>
          </a:xfrm>
          <a:prstGeom prst="rect">
            <a:avLst/>
          </a:prstGeom>
          <a:noFill/>
          <a:ln/>
        </p:spPr>
        <p:txBody>
          <a:bodyPr wrap="none" lIns="0" tIns="0" rIns="0" bIns="0" rtlCol="0" anchor="t"/>
          <a:lstStyle/>
          <a:p>
            <a:pPr marL="0" indent="0" algn="l">
              <a:lnSpc>
                <a:spcPct val="117000"/>
              </a:lnSpc>
              <a:buNone/>
            </a:pPr>
            <a:r>
              <a:rPr lang="en-US" sz="1050" b="1" kern="100" spc="63" dirty="0">
                <a:solidFill>
                  <a:srgbClr val="FFFFFF"/>
                </a:solidFill>
                <a:latin typeface="Space Mono Bold" pitchFamily="34" charset="0"/>
                <a:ea typeface="Space Mono Bold" pitchFamily="34" charset="-122"/>
                <a:cs typeface="Space Mono Bold" pitchFamily="34" charset="-120"/>
              </a:rPr>
              <a:t>DATASET RESULTANTE</a:t>
            </a:r>
            <a:endParaRPr lang="en-US" sz="1050" dirty="0"/>
          </a:p>
        </p:txBody>
      </p:sp>
      <p:sp>
        <p:nvSpPr>
          <p:cNvPr id="23" name="Text 21"/>
          <p:cNvSpPr/>
          <p:nvPr/>
        </p:nvSpPr>
        <p:spPr>
          <a:xfrm>
            <a:off x="8701763" y="2510512"/>
            <a:ext cx="2651753" cy="559991"/>
          </a:xfrm>
          <a:prstGeom prst="rect">
            <a:avLst/>
          </a:prstGeom>
          <a:noFill/>
          <a:ln/>
        </p:spPr>
        <p:txBody>
          <a:bodyPr wrap="none" lIns="0" tIns="0" rIns="0" bIns="0" rtlCol="0" anchor="t"/>
          <a:lstStyle/>
          <a:p>
            <a:pPr marL="0" indent="0" algn="l">
              <a:lnSpc>
                <a:spcPct val="87000"/>
              </a:lnSpc>
              <a:buNone/>
            </a:pPr>
            <a:r>
              <a:rPr lang="en-US" sz="4200" b="1" dirty="0">
                <a:solidFill>
                  <a:srgbClr val="FFFFFF"/>
                </a:solidFill>
                <a:latin typeface="Host Grotesk Bold" pitchFamily="34" charset="0"/>
                <a:ea typeface="Host Grotesk Bold" pitchFamily="34" charset="-122"/>
                <a:cs typeface="Host Grotesk Bold" pitchFamily="34" charset="-120"/>
              </a:rPr>
              <a:t>4.062</a:t>
            </a:r>
            <a:endParaRPr lang="en-US" sz="4200" dirty="0"/>
          </a:p>
        </p:txBody>
      </p:sp>
      <p:sp>
        <p:nvSpPr>
          <p:cNvPr id="24" name="Text 22"/>
          <p:cNvSpPr/>
          <p:nvPr/>
        </p:nvSpPr>
        <p:spPr>
          <a:xfrm>
            <a:off x="8701763" y="3206075"/>
            <a:ext cx="2880347" cy="195560"/>
          </a:xfrm>
          <a:prstGeom prst="rect">
            <a:avLst/>
          </a:prstGeom>
          <a:noFill/>
          <a:ln/>
        </p:spPr>
        <p:txBody>
          <a:bodyPr wrap="none" lIns="0" tIns="0" rIns="0" bIns="0" rtlCol="0" anchor="t"/>
          <a:lstStyle/>
          <a:p>
            <a:pPr marL="0" indent="0" algn="l">
              <a:lnSpc>
                <a:spcPct val="117000"/>
              </a:lnSpc>
              <a:buNone/>
            </a:pPr>
            <a:r>
              <a:rPr lang="en-US" sz="1100" dirty="0">
                <a:solidFill>
                  <a:srgbClr val="FFFFFF"/>
                </a:solidFill>
                <a:latin typeface="Red Hat Text" pitchFamily="34" charset="0"/>
                <a:ea typeface="Red Hat Text" pitchFamily="34" charset="-122"/>
                <a:cs typeface="Red Hat Text" pitchFamily="34" charset="-120"/>
              </a:rPr>
              <a:t>Casos consolidados</a:t>
            </a:r>
            <a:endParaRPr lang="en-US" sz="1100" dirty="0"/>
          </a:p>
        </p:txBody>
      </p:sp>
      <p:sp>
        <p:nvSpPr>
          <p:cNvPr id="25" name="Shape 23"/>
          <p:cNvSpPr/>
          <p:nvPr/>
        </p:nvSpPr>
        <p:spPr>
          <a:xfrm>
            <a:off x="8701763" y="3547368"/>
            <a:ext cx="2651654" cy="19050"/>
          </a:xfrm>
          <a:prstGeom prst="roundRect">
            <a:avLst>
              <a:gd name="adj" fmla="val 49999"/>
            </a:avLst>
          </a:prstGeom>
          <a:solidFill>
            <a:srgbClr val="FFFFFF">
              <a:alpha val="24000"/>
            </a:srgbClr>
          </a:solidFill>
          <a:ln/>
        </p:spPr>
      </p:sp>
      <p:sp>
        <p:nvSpPr>
          <p:cNvPr id="26" name="Text 24"/>
          <p:cNvSpPr/>
          <p:nvPr/>
        </p:nvSpPr>
        <p:spPr>
          <a:xfrm>
            <a:off x="8701763" y="3805813"/>
            <a:ext cx="2651753" cy="426641"/>
          </a:xfrm>
          <a:prstGeom prst="rect">
            <a:avLst/>
          </a:prstGeom>
          <a:noFill/>
          <a:ln/>
        </p:spPr>
        <p:txBody>
          <a:bodyPr wrap="none" lIns="0" tIns="0" rIns="0" bIns="0" rtlCol="0" anchor="t"/>
          <a:lstStyle/>
          <a:p>
            <a:pPr marL="0" indent="0" algn="l">
              <a:lnSpc>
                <a:spcPct val="87000"/>
              </a:lnSpc>
              <a:buNone/>
            </a:pPr>
            <a:r>
              <a:rPr lang="en-US" sz="3200" b="1" dirty="0">
                <a:solidFill>
                  <a:srgbClr val="FFFFFF"/>
                </a:solidFill>
                <a:latin typeface="Host Grotesk Bold" pitchFamily="34" charset="0"/>
                <a:ea typeface="Host Grotesk Bold" pitchFamily="34" charset="-122"/>
                <a:cs typeface="Host Grotesk Bold" pitchFamily="34" charset="-120"/>
              </a:rPr>
              <a:t>32</a:t>
            </a:r>
            <a:endParaRPr lang="en-US" sz="3200" dirty="0"/>
          </a:p>
        </p:txBody>
      </p:sp>
      <p:sp>
        <p:nvSpPr>
          <p:cNvPr id="27" name="Text 25"/>
          <p:cNvSpPr/>
          <p:nvPr/>
        </p:nvSpPr>
        <p:spPr>
          <a:xfrm>
            <a:off x="8701763" y="4377551"/>
            <a:ext cx="2880347" cy="195560"/>
          </a:xfrm>
          <a:prstGeom prst="rect">
            <a:avLst/>
          </a:prstGeom>
          <a:noFill/>
          <a:ln/>
        </p:spPr>
        <p:txBody>
          <a:bodyPr wrap="none" lIns="0" tIns="0" rIns="0" bIns="0" rtlCol="0" anchor="t"/>
          <a:lstStyle/>
          <a:p>
            <a:pPr marL="0" indent="0" algn="l">
              <a:lnSpc>
                <a:spcPct val="117000"/>
              </a:lnSpc>
              <a:buNone/>
            </a:pPr>
            <a:r>
              <a:rPr lang="en-US" sz="1100" dirty="0">
                <a:solidFill>
                  <a:srgbClr val="FFFFFF"/>
                </a:solidFill>
                <a:latin typeface="Red Hat Text" pitchFamily="34" charset="0"/>
                <a:ea typeface="Red Hat Text" pitchFamily="34" charset="-122"/>
                <a:cs typeface="Red Hat Text" pitchFamily="34" charset="-120"/>
              </a:rPr>
              <a:t>Variables analíticas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7956"/>
            <a:ext cx="11582110" cy="138013"/>
          </a:xfrm>
          <a:prstGeom prst="rect">
            <a:avLst/>
          </a:prstGeom>
          <a:noFill/>
          <a:ln/>
        </p:spPr>
        <p:txBody>
          <a:bodyPr wrap="none" lIns="0" tIns="0" rIns="0" bIns="0" rtlCol="0" anchor="t"/>
          <a:lstStyle/>
          <a:p>
            <a:pPr marL="0" indent="0" algn="l">
              <a:lnSpc>
                <a:spcPct val="106000"/>
              </a:lnSpc>
              <a:buNone/>
            </a:pPr>
            <a:r>
              <a:rPr lang="en-US" sz="850" kern="100" spc="51" dirty="0">
                <a:solidFill>
                  <a:srgbClr val="0B1E26"/>
                </a:solidFill>
                <a:latin typeface="Space Mono" pitchFamily="34" charset="0"/>
                <a:ea typeface="Space Mono" pitchFamily="34" charset="-122"/>
                <a:cs typeface="Space Mono" pitchFamily="34" charset="-120"/>
              </a:rPr>
              <a:t>MODELO DE APRENDIZAJE AUTOMÁTICO PROPUESTO</a:t>
            </a:r>
            <a:endParaRPr lang="en-US" sz="850" dirty="0"/>
          </a:p>
        </p:txBody>
      </p:sp>
      <p:sp>
        <p:nvSpPr>
          <p:cNvPr id="3" name="Text 1"/>
          <p:cNvSpPr/>
          <p:nvPr/>
        </p:nvSpPr>
        <p:spPr>
          <a:xfrm>
            <a:off x="609585" y="823411"/>
            <a:ext cx="10972526" cy="347563"/>
          </a:xfrm>
          <a:prstGeom prst="rect">
            <a:avLst/>
          </a:prstGeom>
          <a:noFill/>
          <a:ln/>
        </p:spPr>
        <p:txBody>
          <a:bodyPr wrap="none" lIns="0" tIns="0" rIns="0" bIns="0" rtlCol="0" anchor="t"/>
          <a:lstStyle/>
          <a:p>
            <a:pPr marL="0" indent="0" algn="l">
              <a:lnSpc>
                <a:spcPct val="88000"/>
              </a:lnSpc>
              <a:buNone/>
            </a:pPr>
            <a:r>
              <a:rPr lang="en-US" sz="2600" b="1" dirty="0">
                <a:solidFill>
                  <a:srgbClr val="0B1E26"/>
                </a:solidFill>
                <a:latin typeface="Host Grotesk Bold" pitchFamily="34" charset="0"/>
                <a:ea typeface="Host Grotesk Bold" pitchFamily="34" charset="-122"/>
                <a:cs typeface="Host Grotesk Bold" pitchFamily="34" charset="-120"/>
              </a:rPr>
              <a:t>Segmentar a partir de patrones de consumo digital</a:t>
            </a:r>
            <a:endParaRPr lang="en-US" sz="2600" dirty="0"/>
          </a:p>
        </p:txBody>
      </p:sp>
      <p:sp>
        <p:nvSpPr>
          <p:cNvPr id="4" name="Text 2"/>
          <p:cNvSpPr/>
          <p:nvPr/>
        </p:nvSpPr>
        <p:spPr>
          <a:xfrm>
            <a:off x="609585" y="1263183"/>
            <a:ext cx="11582110" cy="183952"/>
          </a:xfrm>
          <a:prstGeom prst="rect">
            <a:avLst/>
          </a:prstGeom>
          <a:noFill/>
          <a:ln/>
        </p:spPr>
        <p:txBody>
          <a:bodyPr wrap="none" lIns="0" tIns="0" rIns="0" bIns="0" rtlCol="0" anchor="t"/>
          <a:lstStyle/>
          <a:p>
            <a:pPr marL="0" indent="0" algn="l">
              <a:lnSpc>
                <a:spcPct val="106000"/>
              </a:lnSpc>
              <a:buNone/>
            </a:pPr>
            <a:r>
              <a:rPr lang="en-US" sz="1150" dirty="0">
                <a:solidFill>
                  <a:srgbClr val="0B1E26"/>
                </a:solidFill>
                <a:latin typeface="Red Hat Text" pitchFamily="34" charset="0"/>
                <a:ea typeface="Red Hat Text" pitchFamily="34" charset="-122"/>
                <a:cs typeface="Red Hat Text" pitchFamily="34" charset="-120"/>
              </a:rPr>
              <a:t>El problema es de aprendizaje no supervisado: no existe una etiqueta objetivo conocida que indique de antemano a qué perfil pertenece cada adolescente.</a:t>
            </a:r>
            <a:endParaRPr lang="en-US" sz="1150" dirty="0"/>
          </a:p>
        </p:txBody>
      </p:sp>
      <p:sp>
        <p:nvSpPr>
          <p:cNvPr id="5" name="Shape 3"/>
          <p:cNvSpPr/>
          <p:nvPr/>
        </p:nvSpPr>
        <p:spPr>
          <a:xfrm>
            <a:off x="609585" y="1550888"/>
            <a:ext cx="5333867" cy="2024360"/>
          </a:xfrm>
          <a:prstGeom prst="roundRect">
            <a:avLst>
              <a:gd name="adj" fmla="val 3006"/>
            </a:avLst>
          </a:prstGeom>
          <a:solidFill>
            <a:srgbClr val="CFDDE2"/>
          </a:solidFill>
          <a:ln/>
        </p:spPr>
      </p:sp>
      <p:sp>
        <p:nvSpPr>
          <p:cNvPr id="6" name="Text 4"/>
          <p:cNvSpPr/>
          <p:nvPr/>
        </p:nvSpPr>
        <p:spPr>
          <a:xfrm>
            <a:off x="812780" y="1762445"/>
            <a:ext cx="5130672" cy="138013"/>
          </a:xfrm>
          <a:prstGeom prst="rect">
            <a:avLst/>
          </a:prstGeom>
          <a:noFill/>
          <a:ln/>
        </p:spPr>
        <p:txBody>
          <a:bodyPr wrap="none" lIns="0" tIns="0" rIns="0" bIns="0" rtlCol="0" anchor="t"/>
          <a:lstStyle/>
          <a:p>
            <a:pPr marL="0" indent="0" algn="l">
              <a:lnSpc>
                <a:spcPct val="106000"/>
              </a:lnSpc>
              <a:buNone/>
            </a:pPr>
            <a:r>
              <a:rPr lang="en-US" sz="850" kern="100" spc="51" dirty="0">
                <a:solidFill>
                  <a:srgbClr val="0B1E26"/>
                </a:solidFill>
                <a:latin typeface="Space Mono" pitchFamily="34" charset="0"/>
                <a:ea typeface="Space Mono" pitchFamily="34" charset="-122"/>
                <a:cs typeface="Space Mono" pitchFamily="34" charset="-120"/>
              </a:rPr>
              <a:t>PROBLEMA Y OBJETIVO</a:t>
            </a:r>
            <a:endParaRPr lang="en-US" sz="850" dirty="0"/>
          </a:p>
        </p:txBody>
      </p:sp>
      <p:sp>
        <p:nvSpPr>
          <p:cNvPr id="7" name="Text 5"/>
          <p:cNvSpPr/>
          <p:nvPr/>
        </p:nvSpPr>
        <p:spPr>
          <a:xfrm>
            <a:off x="812780" y="1956256"/>
            <a:ext cx="4927477" cy="184646"/>
          </a:xfrm>
          <a:prstGeom prst="rect">
            <a:avLst/>
          </a:prstGeom>
          <a:noFill/>
          <a:ln/>
        </p:spPr>
        <p:txBody>
          <a:bodyPr wrap="none" lIns="0" tIns="0" rIns="0" bIns="0" rtlCol="0" anchor="t"/>
          <a:lstStyle/>
          <a:p>
            <a:pPr marL="0" indent="0" algn="l">
              <a:lnSpc>
                <a:spcPct val="87000"/>
              </a:lnSpc>
              <a:buNone/>
            </a:pPr>
            <a:r>
              <a:rPr lang="en-US" sz="1400" dirty="0">
                <a:solidFill>
                  <a:srgbClr val="0B1E26"/>
                </a:solidFill>
                <a:latin typeface="Host Grotesk SemiBold" pitchFamily="34" charset="0"/>
                <a:ea typeface="Host Grotesk SemiBold" pitchFamily="34" charset="-122"/>
                <a:cs typeface="Host Grotesk SemiBold" pitchFamily="34" charset="-120"/>
              </a:rPr>
              <a:t>Descubrir agrupamientos naturales</a:t>
            </a:r>
            <a:endParaRPr lang="en-US" sz="1400" dirty="0"/>
          </a:p>
        </p:txBody>
      </p:sp>
      <p:sp>
        <p:nvSpPr>
          <p:cNvPr id="8" name="Text 6"/>
          <p:cNvSpPr/>
          <p:nvPr/>
        </p:nvSpPr>
        <p:spPr>
          <a:xfrm>
            <a:off x="812780" y="2211354"/>
            <a:ext cx="4927477" cy="289123"/>
          </a:xfrm>
          <a:prstGeom prst="rect">
            <a:avLst/>
          </a:prstGeom>
          <a:noFill/>
          <a:ln/>
        </p:spPr>
        <p:txBody>
          <a:bodyPr wrap="square" lIns="0" tIns="0" rIns="0" bIns="0" rtlCol="0" anchor="t">
            <a:normAutofit lnSpcReduction="10000"/>
          </a:bodyPr>
          <a:lstStyle/>
          <a:p>
            <a:pPr marL="0" indent="0" algn="l">
              <a:lnSpc>
                <a:spcPct val="106000"/>
              </a:lnSpc>
              <a:buNone/>
            </a:pPr>
            <a:r>
              <a:rPr lang="en-US" sz="900" dirty="0">
                <a:solidFill>
                  <a:srgbClr val="0B1E26"/>
                </a:solidFill>
                <a:latin typeface="Red Hat Text" pitchFamily="34" charset="0"/>
                <a:ea typeface="Red Hat Text" pitchFamily="34" charset="-122"/>
                <a:cs typeface="Red Hat Text" pitchFamily="34" charset="-120"/>
              </a:rPr>
              <a:t>El objetivo es encontrar grupos a partir de similitudes en los patrones de consumo digital, sin imponer perfiles previamente definidos.</a:t>
            </a:r>
            <a:endParaRPr lang="en-US" sz="900" dirty="0"/>
          </a:p>
        </p:txBody>
      </p:sp>
      <p:sp>
        <p:nvSpPr>
          <p:cNvPr id="9" name="Shape 7"/>
          <p:cNvSpPr/>
          <p:nvPr/>
        </p:nvSpPr>
        <p:spPr>
          <a:xfrm>
            <a:off x="6248244" y="1550888"/>
            <a:ext cx="5333867" cy="2024360"/>
          </a:xfrm>
          <a:prstGeom prst="roundRect">
            <a:avLst>
              <a:gd name="adj" fmla="val 3006"/>
            </a:avLst>
          </a:prstGeom>
          <a:solidFill>
            <a:srgbClr val="CFDDE2"/>
          </a:solidFill>
          <a:ln/>
        </p:spPr>
      </p:sp>
      <p:sp>
        <p:nvSpPr>
          <p:cNvPr id="10" name="Text 8"/>
          <p:cNvSpPr/>
          <p:nvPr/>
        </p:nvSpPr>
        <p:spPr>
          <a:xfrm>
            <a:off x="6451439" y="1762445"/>
            <a:ext cx="5130672" cy="138013"/>
          </a:xfrm>
          <a:prstGeom prst="rect">
            <a:avLst/>
          </a:prstGeom>
          <a:noFill/>
          <a:ln/>
        </p:spPr>
        <p:txBody>
          <a:bodyPr wrap="none" lIns="0" tIns="0" rIns="0" bIns="0" rtlCol="0" anchor="t"/>
          <a:lstStyle/>
          <a:p>
            <a:pPr marL="0" indent="0" algn="l">
              <a:lnSpc>
                <a:spcPct val="106000"/>
              </a:lnSpc>
              <a:buNone/>
            </a:pPr>
            <a:r>
              <a:rPr lang="en-US" sz="850" kern="100" spc="51" dirty="0">
                <a:solidFill>
                  <a:srgbClr val="0B1E26"/>
                </a:solidFill>
                <a:latin typeface="Space Mono" pitchFamily="34" charset="0"/>
                <a:ea typeface="Space Mono" pitchFamily="34" charset="-122"/>
                <a:cs typeface="Space Mono" pitchFamily="34" charset="-120"/>
              </a:rPr>
              <a:t>MODELO INICIAL</a:t>
            </a:r>
            <a:endParaRPr lang="en-US" sz="850" dirty="0"/>
          </a:p>
        </p:txBody>
      </p:sp>
      <p:sp>
        <p:nvSpPr>
          <p:cNvPr id="11" name="Text 9"/>
          <p:cNvSpPr/>
          <p:nvPr/>
        </p:nvSpPr>
        <p:spPr>
          <a:xfrm>
            <a:off x="6451439" y="1956256"/>
            <a:ext cx="4927477" cy="184646"/>
          </a:xfrm>
          <a:prstGeom prst="rect">
            <a:avLst/>
          </a:prstGeom>
          <a:noFill/>
          <a:ln/>
        </p:spPr>
        <p:txBody>
          <a:bodyPr wrap="none" lIns="0" tIns="0" rIns="0" bIns="0" rtlCol="0" anchor="t"/>
          <a:lstStyle/>
          <a:p>
            <a:pPr marL="0" indent="0" algn="l">
              <a:lnSpc>
                <a:spcPct val="87000"/>
              </a:lnSpc>
              <a:buNone/>
            </a:pPr>
            <a:r>
              <a:rPr lang="en-US" sz="1400" dirty="0">
                <a:solidFill>
                  <a:srgbClr val="0B1E26"/>
                </a:solidFill>
                <a:latin typeface="Host Grotesk SemiBold" pitchFamily="34" charset="0"/>
                <a:ea typeface="Host Grotesk SemiBold" pitchFamily="34" charset="-122"/>
                <a:cs typeface="Host Grotesk SemiBold" pitchFamily="34" charset="-120"/>
              </a:rPr>
              <a:t>K-Means como baseline</a:t>
            </a:r>
            <a:endParaRPr lang="en-US" sz="1400" dirty="0"/>
          </a:p>
        </p:txBody>
      </p:sp>
      <p:sp>
        <p:nvSpPr>
          <p:cNvPr id="12" name="Text 10"/>
          <p:cNvSpPr/>
          <p:nvPr/>
        </p:nvSpPr>
        <p:spPr>
          <a:xfrm>
            <a:off x="6451439" y="2209403"/>
            <a:ext cx="4927477" cy="1008162"/>
          </a:xfrm>
          <a:prstGeom prst="rect">
            <a:avLst/>
          </a:prstGeom>
          <a:noFill/>
          <a:ln/>
        </p:spPr>
        <p:txBody>
          <a:bodyPr wrap="square" lIns="0" tIns="0" rIns="0" bIns="0" rtlCol="0" anchor="t">
            <a:normAutofit fontScale="92500"/>
          </a:bodyPr>
          <a:lstStyle/>
          <a:p>
            <a:pPr marL="233680" indent="-233680" algn="l">
              <a:lnSpc>
                <a:spcPct val="106000"/>
              </a:lnSpc>
              <a:buSzPct val="100000"/>
              <a:buChar char="•"/>
            </a:pPr>
            <a:r>
              <a:rPr lang="en-US" sz="1150" dirty="0">
                <a:solidFill>
                  <a:srgbClr val="0B1E26"/>
                </a:solidFill>
                <a:latin typeface="Red Hat Text" pitchFamily="34" charset="0"/>
                <a:ea typeface="Red Hat Text" pitchFamily="34" charset="-122"/>
                <a:cs typeface="Red Hat Text" pitchFamily="34" charset="-120"/>
              </a:rPr>
              <a:t>Algoritmo clásico de segmentación, adecuado para el tamaño del dataset.</a:t>
            </a:r>
            <a:endParaRPr lang="en-US" sz="1150" dirty="0"/>
          </a:p>
          <a:p>
            <a:pPr marL="233680" indent="-233680" algn="l">
              <a:lnSpc>
                <a:spcPct val="106000"/>
              </a:lnSpc>
              <a:buSzPct val="100000"/>
              <a:buChar char="•"/>
            </a:pPr>
            <a:r>
              <a:rPr lang="en-US" sz="1150" dirty="0">
                <a:solidFill>
                  <a:srgbClr val="0B1E26"/>
                </a:solidFill>
                <a:latin typeface="Red Hat Text" pitchFamily="34" charset="0"/>
                <a:ea typeface="Red Hat Text" pitchFamily="34" charset="-122"/>
                <a:cs typeface="Red Hat Text" pitchFamily="34" charset="-120"/>
              </a:rPr>
              <a:t>Trabaja con variables numéricas estandarizadas.</a:t>
            </a:r>
            <a:endParaRPr lang="en-US" sz="1150" dirty="0"/>
          </a:p>
          <a:p>
            <a:pPr marL="233680" indent="-233680" algn="l">
              <a:lnSpc>
                <a:spcPct val="106000"/>
              </a:lnSpc>
              <a:buSzPct val="100000"/>
              <a:buChar char="•"/>
            </a:pPr>
            <a:r>
              <a:rPr lang="en-US" sz="1150" dirty="0">
                <a:solidFill>
                  <a:srgbClr val="0B1E26"/>
                </a:solidFill>
                <a:latin typeface="Red Hat Text" pitchFamily="34" charset="0"/>
                <a:ea typeface="Red Hat Text" pitchFamily="34" charset="-122"/>
                <a:cs typeface="Red Hat Text" pitchFamily="34" charset="-120"/>
              </a:rPr>
              <a:t>Genera clusters interpretables y permite comparar distintos valores de K.</a:t>
            </a:r>
            <a:endParaRPr lang="en-US" sz="1150" dirty="0"/>
          </a:p>
          <a:p>
            <a:pPr marL="233680" indent="-233680" algn="l">
              <a:lnSpc>
                <a:spcPct val="106000"/>
              </a:lnSpc>
              <a:buSzPct val="100000"/>
              <a:buChar char="•"/>
            </a:pPr>
            <a:r>
              <a:rPr lang="en-US" sz="1150" dirty="0">
                <a:solidFill>
                  <a:srgbClr val="0B1E26"/>
                </a:solidFill>
                <a:latin typeface="Red Hat Text" pitchFamily="34" charset="0"/>
                <a:ea typeface="Red Hat Text" pitchFamily="34" charset="-122"/>
                <a:cs typeface="Red Hat Text" pitchFamily="34" charset="-120"/>
              </a:rPr>
              <a:t>Facilita la caracterización posterior de cada grupo.</a:t>
            </a:r>
            <a:endParaRPr lang="en-US" sz="1150" dirty="0"/>
          </a:p>
        </p:txBody>
      </p:sp>
      <p:sp>
        <p:nvSpPr>
          <p:cNvPr id="13" name="Shape 11"/>
          <p:cNvSpPr/>
          <p:nvPr/>
        </p:nvSpPr>
        <p:spPr>
          <a:xfrm>
            <a:off x="609585" y="3880048"/>
            <a:ext cx="5333867" cy="2024360"/>
          </a:xfrm>
          <a:prstGeom prst="roundRect">
            <a:avLst>
              <a:gd name="adj" fmla="val 3006"/>
            </a:avLst>
          </a:prstGeom>
          <a:solidFill>
            <a:srgbClr val="CFDDE2"/>
          </a:solidFill>
          <a:ln/>
        </p:spPr>
      </p:sp>
      <p:sp>
        <p:nvSpPr>
          <p:cNvPr id="14" name="Text 12"/>
          <p:cNvSpPr/>
          <p:nvPr/>
        </p:nvSpPr>
        <p:spPr>
          <a:xfrm>
            <a:off x="812780" y="4091605"/>
            <a:ext cx="5130672" cy="138013"/>
          </a:xfrm>
          <a:prstGeom prst="rect">
            <a:avLst/>
          </a:prstGeom>
          <a:noFill/>
          <a:ln/>
        </p:spPr>
        <p:txBody>
          <a:bodyPr wrap="none" lIns="0" tIns="0" rIns="0" bIns="0" rtlCol="0" anchor="t"/>
          <a:lstStyle/>
          <a:p>
            <a:pPr marL="0" indent="0" algn="l">
              <a:lnSpc>
                <a:spcPct val="106000"/>
              </a:lnSpc>
              <a:buNone/>
            </a:pPr>
            <a:r>
              <a:rPr lang="en-US" sz="850" kern="100" spc="51" dirty="0">
                <a:solidFill>
                  <a:srgbClr val="0B1E26"/>
                </a:solidFill>
                <a:latin typeface="Space Mono" pitchFamily="34" charset="0"/>
                <a:ea typeface="Space Mono" pitchFamily="34" charset="-122"/>
                <a:cs typeface="Space Mono" pitchFamily="34" charset="-120"/>
              </a:rPr>
              <a:t>LIMITACIONES</a:t>
            </a:r>
            <a:endParaRPr lang="en-US" sz="850" dirty="0"/>
          </a:p>
        </p:txBody>
      </p:sp>
      <p:sp>
        <p:nvSpPr>
          <p:cNvPr id="15" name="Text 13"/>
          <p:cNvSpPr/>
          <p:nvPr/>
        </p:nvSpPr>
        <p:spPr>
          <a:xfrm>
            <a:off x="812780" y="4285416"/>
            <a:ext cx="4927477" cy="184646"/>
          </a:xfrm>
          <a:prstGeom prst="rect">
            <a:avLst/>
          </a:prstGeom>
          <a:noFill/>
          <a:ln/>
        </p:spPr>
        <p:txBody>
          <a:bodyPr wrap="none" lIns="0" tIns="0" rIns="0" bIns="0" rtlCol="0" anchor="t"/>
          <a:lstStyle/>
          <a:p>
            <a:pPr marL="0" indent="0" algn="l">
              <a:lnSpc>
                <a:spcPct val="87000"/>
              </a:lnSpc>
              <a:buNone/>
            </a:pPr>
            <a:r>
              <a:rPr lang="en-US" sz="1400" dirty="0">
                <a:solidFill>
                  <a:srgbClr val="0B1E26"/>
                </a:solidFill>
                <a:latin typeface="Host Grotesk SemiBold" pitchFamily="34" charset="0"/>
                <a:ea typeface="Host Grotesk SemiBold" pitchFamily="34" charset="-122"/>
                <a:cs typeface="Host Grotesk SemiBold" pitchFamily="34" charset="-120"/>
              </a:rPr>
              <a:t>Supuestos que debemos evaluar</a:t>
            </a:r>
            <a:endParaRPr lang="en-US" sz="1400" dirty="0"/>
          </a:p>
        </p:txBody>
      </p:sp>
      <p:sp>
        <p:nvSpPr>
          <p:cNvPr id="16" name="Text 14"/>
          <p:cNvSpPr/>
          <p:nvPr/>
        </p:nvSpPr>
        <p:spPr>
          <a:xfrm>
            <a:off x="812780" y="4540514"/>
            <a:ext cx="4927477" cy="289123"/>
          </a:xfrm>
          <a:prstGeom prst="rect">
            <a:avLst/>
          </a:prstGeom>
          <a:noFill/>
          <a:ln/>
        </p:spPr>
        <p:txBody>
          <a:bodyPr wrap="square" lIns="0" tIns="0" rIns="0" bIns="0" rtlCol="0" anchor="t">
            <a:normAutofit lnSpcReduction="10000"/>
          </a:bodyPr>
          <a:lstStyle/>
          <a:p>
            <a:pPr marL="0" indent="0" algn="l">
              <a:lnSpc>
                <a:spcPct val="106000"/>
              </a:lnSpc>
              <a:buNone/>
            </a:pPr>
            <a:r>
              <a:rPr lang="en-US" sz="900" dirty="0">
                <a:solidFill>
                  <a:srgbClr val="0B1E26"/>
                </a:solidFill>
                <a:latin typeface="Red Hat Text" pitchFamily="34" charset="0"/>
                <a:ea typeface="Red Hat Text" pitchFamily="34" charset="-122"/>
                <a:cs typeface="Red Hat Text" pitchFamily="34" charset="-120"/>
              </a:rPr>
              <a:t>K-Means supone grupos relativamente compactos según la distancia euclidiana y es sensible a la escala de las variables, los valores extremos, la elección de K y las estructuras no esféricas.</a:t>
            </a:r>
            <a:endParaRPr lang="en-US" sz="900" dirty="0"/>
          </a:p>
        </p:txBody>
      </p:sp>
      <p:sp>
        <p:nvSpPr>
          <p:cNvPr id="17" name="Shape 15"/>
          <p:cNvSpPr/>
          <p:nvPr/>
        </p:nvSpPr>
        <p:spPr>
          <a:xfrm>
            <a:off x="6248244" y="3880048"/>
            <a:ext cx="5333867" cy="2024360"/>
          </a:xfrm>
          <a:prstGeom prst="roundRect">
            <a:avLst>
              <a:gd name="adj" fmla="val 3006"/>
            </a:avLst>
          </a:prstGeom>
          <a:solidFill>
            <a:srgbClr val="CFDDE2"/>
          </a:solidFill>
          <a:ln/>
        </p:spPr>
      </p:sp>
      <p:sp>
        <p:nvSpPr>
          <p:cNvPr id="18" name="Text 16"/>
          <p:cNvSpPr/>
          <p:nvPr/>
        </p:nvSpPr>
        <p:spPr>
          <a:xfrm>
            <a:off x="6451439" y="4091605"/>
            <a:ext cx="5130672" cy="138013"/>
          </a:xfrm>
          <a:prstGeom prst="rect">
            <a:avLst/>
          </a:prstGeom>
          <a:noFill/>
          <a:ln/>
        </p:spPr>
        <p:txBody>
          <a:bodyPr wrap="none" lIns="0" tIns="0" rIns="0" bIns="0" rtlCol="0" anchor="t"/>
          <a:lstStyle/>
          <a:p>
            <a:pPr marL="0" indent="0" algn="l">
              <a:lnSpc>
                <a:spcPct val="106000"/>
              </a:lnSpc>
              <a:buNone/>
            </a:pPr>
            <a:r>
              <a:rPr lang="en-US" sz="850" kern="100" spc="51" dirty="0">
                <a:solidFill>
                  <a:srgbClr val="0B1E26"/>
                </a:solidFill>
                <a:latin typeface="Space Mono" pitchFamily="34" charset="0"/>
                <a:ea typeface="Space Mono" pitchFamily="34" charset="-122"/>
                <a:cs typeface="Space Mono" pitchFamily="34" charset="-120"/>
              </a:rPr>
              <a:t>ALTERNATIVAS INVESTIGADAS</a:t>
            </a:r>
            <a:endParaRPr lang="en-US" sz="850" dirty="0"/>
          </a:p>
        </p:txBody>
      </p:sp>
      <p:sp>
        <p:nvSpPr>
          <p:cNvPr id="19" name="Text 17"/>
          <p:cNvSpPr/>
          <p:nvPr/>
        </p:nvSpPr>
        <p:spPr>
          <a:xfrm>
            <a:off x="6451439" y="4285416"/>
            <a:ext cx="4927477" cy="184646"/>
          </a:xfrm>
          <a:prstGeom prst="rect">
            <a:avLst/>
          </a:prstGeom>
          <a:noFill/>
          <a:ln/>
        </p:spPr>
        <p:txBody>
          <a:bodyPr wrap="none" lIns="0" tIns="0" rIns="0" bIns="0" rtlCol="0" anchor="t"/>
          <a:lstStyle/>
          <a:p>
            <a:pPr marL="0" indent="0" algn="l">
              <a:lnSpc>
                <a:spcPct val="87000"/>
              </a:lnSpc>
              <a:buNone/>
            </a:pPr>
            <a:r>
              <a:rPr lang="en-US" sz="1400" dirty="0">
                <a:solidFill>
                  <a:srgbClr val="0B1E26"/>
                </a:solidFill>
                <a:latin typeface="Host Grotesk SemiBold" pitchFamily="34" charset="0"/>
                <a:ea typeface="Host Grotesk SemiBold" pitchFamily="34" charset="-122"/>
                <a:cs typeface="Host Grotesk SemiBold" pitchFamily="34" charset="-120"/>
              </a:rPr>
              <a:t>Otros modelos posibles</a:t>
            </a:r>
            <a:endParaRPr lang="en-US" sz="1400" dirty="0"/>
          </a:p>
        </p:txBody>
      </p:sp>
      <p:sp>
        <p:nvSpPr>
          <p:cNvPr id="20" name="Text 18"/>
          <p:cNvSpPr/>
          <p:nvPr/>
        </p:nvSpPr>
        <p:spPr>
          <a:xfrm>
            <a:off x="6451439" y="4538563"/>
            <a:ext cx="4927477" cy="1162645"/>
          </a:xfrm>
          <a:prstGeom prst="rect">
            <a:avLst/>
          </a:prstGeom>
          <a:noFill/>
          <a:ln/>
        </p:spPr>
        <p:txBody>
          <a:bodyPr wrap="square" lIns="0" tIns="0" rIns="0" bIns="0" rtlCol="0" anchor="t">
            <a:normAutofit/>
          </a:bodyPr>
          <a:lstStyle/>
          <a:p>
            <a:pPr marL="233680" indent="-233680" algn="l">
              <a:lnSpc>
                <a:spcPct val="106000"/>
              </a:lnSpc>
              <a:buSzPct val="100000"/>
              <a:buChar char="•"/>
            </a:pPr>
            <a:r>
              <a:rPr lang="en-US" sz="1150" b="1" dirty="0">
                <a:solidFill>
                  <a:srgbClr val="0B1E26"/>
                </a:solidFill>
                <a:latin typeface="Red Hat Text Bold" pitchFamily="34" charset="0"/>
                <a:ea typeface="Red Hat Text Bold" pitchFamily="34" charset="-122"/>
                <a:cs typeface="Red Hat Text Bold" pitchFamily="34" charset="-120"/>
              </a:rPr>
              <a:t>Clustering jerárquico:</a:t>
            </a:r>
            <a:r>
              <a:rPr lang="en-US" sz="1150" dirty="0">
                <a:solidFill>
                  <a:srgbClr val="0B1E26"/>
                </a:solidFill>
                <a:latin typeface="Red Hat Text" pitchFamily="34" charset="0"/>
                <a:ea typeface="Red Hat Text" pitchFamily="34" charset="-122"/>
                <a:cs typeface="Red Hat Text" pitchFamily="34" charset="-120"/>
              </a:rPr>
              <a:t> estudia relaciones entre observaciones o grupos.</a:t>
            </a:r>
            <a:endParaRPr lang="en-US" sz="1150" dirty="0"/>
          </a:p>
          <a:p>
            <a:pPr marL="233680" indent="-233680" algn="l">
              <a:lnSpc>
                <a:spcPct val="106000"/>
              </a:lnSpc>
              <a:buSzPct val="100000"/>
              <a:buChar char="•"/>
            </a:pPr>
            <a:r>
              <a:rPr lang="en-US" sz="1150" b="1" dirty="0">
                <a:solidFill>
                  <a:srgbClr val="0B1E26"/>
                </a:solidFill>
                <a:latin typeface="Red Hat Text Bold" pitchFamily="34" charset="0"/>
                <a:ea typeface="Red Hat Text Bold" pitchFamily="34" charset="-122"/>
                <a:cs typeface="Red Hat Text Bold" pitchFamily="34" charset="-120"/>
              </a:rPr>
              <a:t>DBSCAN:</a:t>
            </a:r>
            <a:r>
              <a:rPr lang="en-US" sz="1150" dirty="0">
                <a:solidFill>
                  <a:srgbClr val="0B1E26"/>
                </a:solidFill>
                <a:latin typeface="Red Hat Text" pitchFamily="34" charset="0"/>
                <a:ea typeface="Red Hat Text" pitchFamily="34" charset="-122"/>
                <a:cs typeface="Red Hat Text" pitchFamily="34" charset="-120"/>
              </a:rPr>
              <a:t> detecta formas irregulares y ruido, con sensibilidad a sus hiperparámetros.</a:t>
            </a:r>
            <a:endParaRPr lang="en-US" sz="1150" dirty="0"/>
          </a:p>
          <a:p>
            <a:pPr marL="233680" indent="-233680" algn="l">
              <a:lnSpc>
                <a:spcPct val="106000"/>
              </a:lnSpc>
              <a:buSzPct val="100000"/>
              <a:buChar char="•"/>
            </a:pPr>
            <a:r>
              <a:rPr lang="en-US" sz="1150" b="1" dirty="0">
                <a:solidFill>
                  <a:srgbClr val="0B1E26"/>
                </a:solidFill>
                <a:latin typeface="Red Hat Text Bold" pitchFamily="34" charset="0"/>
                <a:ea typeface="Red Hat Text Bold" pitchFamily="34" charset="-122"/>
                <a:cs typeface="Red Hat Text Bold" pitchFamily="34" charset="-120"/>
              </a:rPr>
              <a:t>Gaussian Mixture Models:</a:t>
            </a:r>
            <a:r>
              <a:rPr lang="en-US" sz="1150" dirty="0">
                <a:solidFill>
                  <a:srgbClr val="0B1E26"/>
                </a:solidFill>
                <a:latin typeface="Red Hat Text" pitchFamily="34" charset="0"/>
                <a:ea typeface="Red Hat Text" pitchFamily="34" charset="-122"/>
                <a:cs typeface="Red Hat Text" pitchFamily="34" charset="-120"/>
              </a:rPr>
              <a:t> ofrece asignación probabilística y mayor flexibilidad geométrica.</a:t>
            </a:r>
            <a:endParaRPr lang="en-US" sz="1150" dirty="0"/>
          </a:p>
        </p:txBody>
      </p:sp>
      <p:sp>
        <p:nvSpPr>
          <p:cNvPr id="21" name="Shape 19"/>
          <p:cNvSpPr/>
          <p:nvPr/>
        </p:nvSpPr>
        <p:spPr>
          <a:xfrm>
            <a:off x="609585" y="6009779"/>
            <a:ext cx="10972526" cy="852488"/>
          </a:xfrm>
          <a:prstGeom prst="roundRect">
            <a:avLst>
              <a:gd name="adj" fmla="val 7137"/>
            </a:avLst>
          </a:prstGeom>
          <a:solidFill>
            <a:srgbClr val="0B1E26"/>
          </a:solidFill>
          <a:ln/>
        </p:spPr>
      </p:sp>
      <p:sp>
        <p:nvSpPr>
          <p:cNvPr id="22" name="Text 20"/>
          <p:cNvSpPr/>
          <p:nvPr/>
        </p:nvSpPr>
        <p:spPr>
          <a:xfrm>
            <a:off x="888928" y="6230091"/>
            <a:ext cx="10413739" cy="217289"/>
          </a:xfrm>
          <a:prstGeom prst="rect">
            <a:avLst/>
          </a:prstGeom>
          <a:noFill/>
          <a:ln/>
        </p:spPr>
        <p:txBody>
          <a:bodyPr wrap="none" lIns="0" tIns="0" rIns="0" bIns="0" rtlCol="0" anchor="t"/>
          <a:lstStyle/>
          <a:p>
            <a:pPr marL="0" indent="0" algn="ctr">
              <a:lnSpc>
                <a:spcPct val="88000"/>
              </a:lnSpc>
              <a:buNone/>
            </a:pPr>
            <a:r>
              <a:rPr lang="en-US" sz="1650" dirty="0">
                <a:solidFill>
                  <a:srgbClr val="FFFFFF"/>
                </a:solidFill>
                <a:latin typeface="Host Grotesk SemiBold" pitchFamily="34" charset="0"/>
                <a:ea typeface="Host Grotesk SemiBold" pitchFamily="34" charset="-122"/>
                <a:cs typeface="Host Grotesk SemiBold" pitchFamily="34" charset="-120"/>
              </a:rPr>
              <a:t>K-Means será el modelo inicial de referencia.</a:t>
            </a:r>
            <a:endParaRPr lang="en-US" sz="1650" dirty="0"/>
          </a:p>
        </p:txBody>
      </p:sp>
      <p:sp>
        <p:nvSpPr>
          <p:cNvPr id="23" name="Text 21"/>
          <p:cNvSpPr/>
          <p:nvPr/>
        </p:nvSpPr>
        <p:spPr>
          <a:xfrm>
            <a:off x="609585" y="6516455"/>
            <a:ext cx="10972526" cy="144562"/>
          </a:xfrm>
          <a:prstGeom prst="rect">
            <a:avLst/>
          </a:prstGeom>
          <a:noFill/>
          <a:ln/>
        </p:spPr>
        <p:txBody>
          <a:bodyPr wrap="none" lIns="0" tIns="0" rIns="0" bIns="0" rtlCol="0" anchor="t"/>
          <a:lstStyle/>
          <a:p>
            <a:pPr marL="0" indent="0" algn="ctr">
              <a:lnSpc>
                <a:spcPct val="106000"/>
              </a:lnSpc>
              <a:buNone/>
            </a:pPr>
            <a:r>
              <a:rPr lang="en-US" sz="900" dirty="0">
                <a:solidFill>
                  <a:srgbClr val="FFFFFF"/>
                </a:solidFill>
                <a:latin typeface="Red Hat Text" pitchFamily="34" charset="0"/>
                <a:ea typeface="Red Hat Text" pitchFamily="34" charset="-122"/>
                <a:cs typeface="Red Hat Text" pitchFamily="34" charset="-120"/>
              </a:rPr>
              <a:t>Como se basa en distancias, las variables deberán estandarizarse y se evaluarán distintos valores de K para determinar una cantidad de clusters adecuada a la estructura observada en los datos.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1135</Words>
  <Application>Microsoft Office PowerPoint</Application>
  <PresentationFormat>Panorámica</PresentationFormat>
  <Paragraphs>105</Paragraphs>
  <Slides>7</Slides>
  <Notes>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7</vt:i4>
      </vt:variant>
    </vt:vector>
  </HeadingPairs>
  <TitlesOfParts>
    <vt:vector size="17" baseType="lpstr">
      <vt:lpstr>Arial</vt:lpstr>
      <vt:lpstr>Space Mono</vt:lpstr>
      <vt:lpstr>Space Mono Bold</vt:lpstr>
      <vt:lpstr>Calibri</vt:lpstr>
      <vt:lpstr>Host Grotesk SemiBold</vt:lpstr>
      <vt:lpstr>Host Grotesk Bold</vt:lpstr>
      <vt:lpstr>Red Hat Text Bold</vt:lpstr>
      <vt:lpstr>Bellefair</vt:lpstr>
      <vt:lpstr>Red Hat Text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Leo</cp:lastModifiedBy>
  <cp:revision>2</cp:revision>
  <dcterms:created xsi:type="dcterms:W3CDTF">2026-10-08T00:31:01Z</dcterms:created>
  <dcterms:modified xsi:type="dcterms:W3CDTF">2026-10-08T00:32:53Z</dcterms:modified>
</cp:coreProperties>
</file>